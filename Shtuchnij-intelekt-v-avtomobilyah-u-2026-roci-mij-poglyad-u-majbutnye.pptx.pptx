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T Serif" charset="1" panose="020A0603040505020204"/>
      <p:regular r:id="rId19"/>
    </p:embeddedFont>
    <p:embeddedFont>
      <p:font typeface="DM Sans" charset="1" panose="00000000000000000000"/>
      <p:regular r:id="rId21"/>
    </p:embeddedFont>
    <p:embeddedFont>
      <p:font typeface="DM Sans Bold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11430000" y="0"/>
            <a:ext cx="6858000" cy="9686925"/>
          </a:xfrm>
          <a:custGeom>
            <a:avLst/>
            <a:gdLst/>
            <a:ahLst/>
            <a:cxnLst/>
            <a:rect r="r" b="b" t="t" l="l"/>
            <a:pathLst>
              <a:path h="9686925" w="6858000">
                <a:moveTo>
                  <a:pt x="0" y="0"/>
                </a:moveTo>
                <a:lnTo>
                  <a:pt x="6858000" y="0"/>
                </a:lnTo>
                <a:lnTo>
                  <a:pt x="6858000" y="9686925"/>
                </a:lnTo>
                <a:lnTo>
                  <a:pt x="0" y="9686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6194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2238" y="3903316"/>
            <a:ext cx="9445523" cy="2461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125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Штучний інтелект в автомобілях у 2026 році: мій погляд у майбутнє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0" y="0"/>
            <a:ext cx="18288000" cy="3101130"/>
          </a:xfrm>
          <a:custGeom>
            <a:avLst/>
            <a:gdLst/>
            <a:ahLst/>
            <a:cxnLst/>
            <a:rect r="r" b="b" t="t" l="l"/>
            <a:pathLst>
              <a:path h="3101130" w="18288000">
                <a:moveTo>
                  <a:pt x="0" y="0"/>
                </a:moveTo>
                <a:lnTo>
                  <a:pt x="18288000" y="0"/>
                </a:lnTo>
                <a:lnTo>
                  <a:pt x="18288000" y="3101130"/>
                </a:lnTo>
                <a:lnTo>
                  <a:pt x="0" y="31011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4" r="0" b="-64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2238" y="3852272"/>
            <a:ext cx="10621718" cy="679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5"/>
              </a:lnSpc>
            </a:pPr>
            <a:r>
              <a:rPr lang="en-US" sz="406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Майбутнє вже поруч: ШІ змінює автомобілі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5276259"/>
            <a:ext cx="5269116" cy="4231034"/>
            <a:chOff x="0" y="0"/>
            <a:chExt cx="7025488" cy="56413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25513" cy="5641340"/>
            </a:xfrm>
            <a:custGeom>
              <a:avLst/>
              <a:gdLst/>
              <a:ahLst/>
              <a:cxnLst/>
              <a:rect r="r" b="b" t="t" l="l"/>
              <a:pathLst>
                <a:path h="5641340" w="7025513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842633" y="0"/>
                  </a:lnTo>
                  <a:cubicBezTo>
                    <a:pt x="6943598" y="0"/>
                    <a:pt x="7025513" y="81915"/>
                    <a:pt x="7025513" y="182880"/>
                  </a:cubicBezTo>
                  <a:lnTo>
                    <a:pt x="7025513" y="5458460"/>
                  </a:lnTo>
                  <a:cubicBezTo>
                    <a:pt x="7025513" y="5559425"/>
                    <a:pt x="6943598" y="5641340"/>
                    <a:pt x="6842633" y="5641340"/>
                  </a:cubicBezTo>
                  <a:lnTo>
                    <a:pt x="182880" y="5641340"/>
                  </a:lnTo>
                  <a:cubicBezTo>
                    <a:pt x="81915" y="5641340"/>
                    <a:pt x="0" y="5559552"/>
                    <a:pt x="0" y="545846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92238" y="5247684"/>
            <a:ext cx="5269116" cy="114300"/>
            <a:chOff x="0" y="0"/>
            <a:chExt cx="7025488" cy="152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25513" cy="152400"/>
            </a:xfrm>
            <a:custGeom>
              <a:avLst/>
              <a:gdLst/>
              <a:ahLst/>
              <a:cxnLst/>
              <a:rect r="r" b="b" t="t" l="l"/>
              <a:pathLst>
                <a:path h="152400" w="7025513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6975856" y="0"/>
                  </a:lnTo>
                  <a:cubicBezTo>
                    <a:pt x="7003288" y="0"/>
                    <a:pt x="7025513" y="22225"/>
                    <a:pt x="7025513" y="49657"/>
                  </a:cubicBezTo>
                  <a:lnTo>
                    <a:pt x="7025513" y="102743"/>
                  </a:lnTo>
                  <a:cubicBezTo>
                    <a:pt x="7025513" y="130175"/>
                    <a:pt x="7003288" y="152400"/>
                    <a:pt x="6975856" y="152400"/>
                  </a:cubicBezTo>
                  <a:lnTo>
                    <a:pt x="49657" y="152400"/>
                  </a:lnTo>
                  <a:cubicBezTo>
                    <a:pt x="22225" y="152400"/>
                    <a:pt x="0" y="130175"/>
                    <a:pt x="0" y="102743"/>
                  </a:cubicBezTo>
                  <a:close/>
                </a:path>
              </a:pathLst>
            </a:custGeom>
            <a:solidFill>
              <a:srgbClr val="E04F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254721" y="4904184"/>
            <a:ext cx="744141" cy="744141"/>
            <a:chOff x="0" y="0"/>
            <a:chExt cx="992188" cy="9921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92251" cy="992251"/>
            </a:xfrm>
            <a:custGeom>
              <a:avLst/>
              <a:gdLst/>
              <a:ahLst/>
              <a:cxnLst/>
              <a:rect r="r" b="b" t="t" l="l"/>
              <a:pathLst>
                <a:path h="992251" w="992251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251" y="222123"/>
                    <a:pt x="992251" y="496062"/>
                  </a:cubicBezTo>
                  <a:cubicBezTo>
                    <a:pt x="992251" y="770001"/>
                    <a:pt x="770128" y="992251"/>
                    <a:pt x="496062" y="992251"/>
                  </a:cubicBezTo>
                  <a:cubicBezTo>
                    <a:pt x="221996" y="992251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E04F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3477968" y="5004492"/>
            <a:ext cx="297656" cy="4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8759" y="5886898"/>
            <a:ext cx="3256207" cy="416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Розумні системи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8759" y="6385617"/>
            <a:ext cx="4716066" cy="244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Автомобілі 2026 року — це не просто транспортні засоби; це інтелектуальні системи, що постійно навчаються та адаптуються до змінних умов руху та уподобань водія. Вони стануть справжніми партнерами на дорозі.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09299" y="5276259"/>
            <a:ext cx="5269259" cy="4231034"/>
            <a:chOff x="0" y="0"/>
            <a:chExt cx="7025678" cy="56413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25640" cy="5641340"/>
            </a:xfrm>
            <a:custGeom>
              <a:avLst/>
              <a:gdLst/>
              <a:ahLst/>
              <a:cxnLst/>
              <a:rect r="r" b="b" t="t" l="l"/>
              <a:pathLst>
                <a:path h="5641340" w="70256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842760" y="0"/>
                  </a:lnTo>
                  <a:cubicBezTo>
                    <a:pt x="6943725" y="0"/>
                    <a:pt x="7025640" y="81915"/>
                    <a:pt x="7025640" y="182880"/>
                  </a:cubicBezTo>
                  <a:lnTo>
                    <a:pt x="7025640" y="5458460"/>
                  </a:lnTo>
                  <a:cubicBezTo>
                    <a:pt x="7025640" y="5559425"/>
                    <a:pt x="6943725" y="5641340"/>
                    <a:pt x="6842760" y="5641340"/>
                  </a:cubicBezTo>
                  <a:lnTo>
                    <a:pt x="182880" y="5641340"/>
                  </a:lnTo>
                  <a:cubicBezTo>
                    <a:pt x="81915" y="5641340"/>
                    <a:pt x="0" y="5559552"/>
                    <a:pt x="0" y="545846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509299" y="5247684"/>
            <a:ext cx="5269259" cy="114300"/>
            <a:chOff x="0" y="0"/>
            <a:chExt cx="7025678" cy="152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25767" cy="152400"/>
            </a:xfrm>
            <a:custGeom>
              <a:avLst/>
              <a:gdLst/>
              <a:ahLst/>
              <a:cxnLst/>
              <a:rect r="r" b="b" t="t" l="l"/>
              <a:pathLst>
                <a:path h="152400" w="7025767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6976110" y="0"/>
                  </a:lnTo>
                  <a:cubicBezTo>
                    <a:pt x="7003542" y="0"/>
                    <a:pt x="7025767" y="22225"/>
                    <a:pt x="7025767" y="49657"/>
                  </a:cubicBezTo>
                  <a:lnTo>
                    <a:pt x="7025767" y="102743"/>
                  </a:lnTo>
                  <a:cubicBezTo>
                    <a:pt x="7025767" y="130175"/>
                    <a:pt x="7003542" y="152400"/>
                    <a:pt x="6976110" y="152400"/>
                  </a:cubicBezTo>
                  <a:lnTo>
                    <a:pt x="49657" y="152400"/>
                  </a:lnTo>
                  <a:cubicBezTo>
                    <a:pt x="22225" y="152400"/>
                    <a:pt x="0" y="130175"/>
                    <a:pt x="0" y="102743"/>
                  </a:cubicBezTo>
                  <a:close/>
                </a:path>
              </a:pathLst>
            </a:custGeom>
            <a:solidFill>
              <a:srgbClr val="E04F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8771782" y="4904184"/>
            <a:ext cx="744141" cy="744141"/>
            <a:chOff x="0" y="0"/>
            <a:chExt cx="992188" cy="9921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92251" cy="992251"/>
            </a:xfrm>
            <a:custGeom>
              <a:avLst/>
              <a:gdLst/>
              <a:ahLst/>
              <a:cxnLst/>
              <a:rect r="r" b="b" t="t" l="l"/>
              <a:pathLst>
                <a:path h="992251" w="992251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251" y="222123"/>
                    <a:pt x="992251" y="496062"/>
                  </a:cubicBezTo>
                  <a:cubicBezTo>
                    <a:pt x="992251" y="770001"/>
                    <a:pt x="770128" y="992251"/>
                    <a:pt x="496062" y="992251"/>
                  </a:cubicBezTo>
                  <a:cubicBezTo>
                    <a:pt x="221996" y="992251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E04F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8995019" y="5004492"/>
            <a:ext cx="297656" cy="4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85820" y="5886898"/>
            <a:ext cx="3256207" cy="416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Безпека та комфорт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785820" y="6385617"/>
            <a:ext cx="4716218" cy="284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Від передових систем автономного водіння до інтелектуальних помічників у салоні — ШІ кардинально підвищує безпеку, запобігаючи аваріям, та покращує комфорт, оптимізуючи маршрути та персоналізуючи досвід подорожі.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026503" y="5276259"/>
            <a:ext cx="5269116" cy="4231034"/>
            <a:chOff x="0" y="0"/>
            <a:chExt cx="7025488" cy="56413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25513" cy="5641340"/>
            </a:xfrm>
            <a:custGeom>
              <a:avLst/>
              <a:gdLst/>
              <a:ahLst/>
              <a:cxnLst/>
              <a:rect r="r" b="b" t="t" l="l"/>
              <a:pathLst>
                <a:path h="5641340" w="7025513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842633" y="0"/>
                  </a:lnTo>
                  <a:cubicBezTo>
                    <a:pt x="6943598" y="0"/>
                    <a:pt x="7025513" y="81915"/>
                    <a:pt x="7025513" y="182880"/>
                  </a:cubicBezTo>
                  <a:lnTo>
                    <a:pt x="7025513" y="5458460"/>
                  </a:lnTo>
                  <a:cubicBezTo>
                    <a:pt x="7025513" y="5559425"/>
                    <a:pt x="6943598" y="5641340"/>
                    <a:pt x="6842633" y="5641340"/>
                  </a:cubicBezTo>
                  <a:lnTo>
                    <a:pt x="182880" y="5641340"/>
                  </a:lnTo>
                  <a:cubicBezTo>
                    <a:pt x="81915" y="5641340"/>
                    <a:pt x="0" y="5559552"/>
                    <a:pt x="0" y="545846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026503" y="5247684"/>
            <a:ext cx="5269116" cy="114300"/>
            <a:chOff x="0" y="0"/>
            <a:chExt cx="7025488" cy="152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25513" cy="152400"/>
            </a:xfrm>
            <a:custGeom>
              <a:avLst/>
              <a:gdLst/>
              <a:ahLst/>
              <a:cxnLst/>
              <a:rect r="r" b="b" t="t" l="l"/>
              <a:pathLst>
                <a:path h="152400" w="7025513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6975856" y="0"/>
                  </a:lnTo>
                  <a:cubicBezTo>
                    <a:pt x="7003288" y="0"/>
                    <a:pt x="7025513" y="22225"/>
                    <a:pt x="7025513" y="49657"/>
                  </a:cubicBezTo>
                  <a:lnTo>
                    <a:pt x="7025513" y="102743"/>
                  </a:lnTo>
                  <a:cubicBezTo>
                    <a:pt x="7025513" y="130175"/>
                    <a:pt x="7003288" y="152400"/>
                    <a:pt x="6975856" y="152400"/>
                  </a:cubicBezTo>
                  <a:lnTo>
                    <a:pt x="49657" y="152400"/>
                  </a:lnTo>
                  <a:cubicBezTo>
                    <a:pt x="22225" y="152400"/>
                    <a:pt x="0" y="130175"/>
                    <a:pt x="0" y="102743"/>
                  </a:cubicBezTo>
                  <a:close/>
                </a:path>
              </a:pathLst>
            </a:custGeom>
            <a:solidFill>
              <a:srgbClr val="E04F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4288986" y="4904184"/>
            <a:ext cx="744141" cy="744141"/>
            <a:chOff x="0" y="0"/>
            <a:chExt cx="992188" cy="9921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92251" cy="992251"/>
            </a:xfrm>
            <a:custGeom>
              <a:avLst/>
              <a:gdLst/>
              <a:ahLst/>
              <a:cxnLst/>
              <a:rect r="r" b="b" t="t" l="l"/>
              <a:pathLst>
                <a:path h="992251" w="992251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251" y="222123"/>
                    <a:pt x="992251" y="496062"/>
                  </a:cubicBezTo>
                  <a:cubicBezTo>
                    <a:pt x="992251" y="770001"/>
                    <a:pt x="770128" y="992251"/>
                    <a:pt x="496062" y="992251"/>
                  </a:cubicBezTo>
                  <a:cubicBezTo>
                    <a:pt x="221996" y="992251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E04F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4512233" y="5004492"/>
            <a:ext cx="297656" cy="4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03023" y="5886898"/>
            <a:ext cx="3256207" cy="416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Еволюція водіння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03023" y="6385617"/>
            <a:ext cx="4716066" cy="284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Штучний інтелект трансформує концепцію водіння, перетворюючи його з рутинного завдання на безперешкодний, інтуїтивно зрозумілий та ефективний процес, де людський фактор і технології доповнюють одне одного.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936547"/>
            <a:ext cx="10760278" cy="679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5"/>
              </a:lnSpc>
            </a:pPr>
            <a:r>
              <a:rPr lang="en-US" sz="406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Tesla AI5: революція в автономному водінні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145041"/>
            <a:ext cx="9540030" cy="1257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b="true" sz="1937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Чип нового покоління:</a:t>
            </a:r>
            <a:r>
              <a:rPr lang="en-US" sz="19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Ілон Маск анонсував майже завершений дизайн нового чипа AI5, що обіцяє десятикратне збільшення обчислювальної потужності порівняно з попередніми версіями.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422572"/>
            <a:ext cx="9540030" cy="1257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b="true" sz="1937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Основа для Cybercab:</a:t>
            </a:r>
            <a:r>
              <a:rPr lang="en-US" sz="19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AI5 стане технологічним серцем для повністю автономних таксі Tesla Cybercab, запуск яких очікується невдовзі після 2026 року, що змінить міський транспорт.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5700122"/>
            <a:ext cx="9540030" cy="1257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b="true" sz="1937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Прискорення інновацій:</a:t>
            </a:r>
            <a:r>
              <a:rPr lang="en-US" sz="19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Цей чип — не просто компонент, а каталізатор, що дозволить скоротити цикл розробки до дев'яти місяців, прискорюючи впровадження інновацій в автомобільній індустрії.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6977653"/>
            <a:ext cx="9540030" cy="1257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b="true" sz="1937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Масштабне виробництво:</a:t>
            </a:r>
            <a:r>
              <a:rPr lang="en-US" sz="19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Завдяки оптимізації та стандартизації, Tesla зможе швидко масштабувати виробництво автономних автомобілів, роблячи їх доступнішими для широкого загалу.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1146927" y="3267523"/>
            <a:ext cx="6158208" cy="3463976"/>
          </a:xfrm>
          <a:custGeom>
            <a:avLst/>
            <a:gdLst/>
            <a:ahLst/>
            <a:cxnLst/>
            <a:rect r="r" b="b" t="t" l="l"/>
            <a:pathLst>
              <a:path h="3463976" w="6158208">
                <a:moveTo>
                  <a:pt x="0" y="0"/>
                </a:moveTo>
                <a:lnTo>
                  <a:pt x="6158207" y="0"/>
                </a:lnTo>
                <a:lnTo>
                  <a:pt x="6158207" y="3463975"/>
                </a:lnTo>
                <a:lnTo>
                  <a:pt x="0" y="3463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" r="0" b="-8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581275"/>
            <a:ext cx="14954545" cy="595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sz="3687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Інтелектуальні системи Hyundai: комфорт і безпека на новому рівні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7951" y="3463976"/>
            <a:ext cx="8079877" cy="2037007"/>
            <a:chOff x="0" y="0"/>
            <a:chExt cx="10773169" cy="27160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050" y="19050"/>
              <a:ext cx="10735056" cy="2677922"/>
            </a:xfrm>
            <a:custGeom>
              <a:avLst/>
              <a:gdLst/>
              <a:ahLst/>
              <a:cxnLst/>
              <a:rect r="r" b="b" t="t" l="l"/>
              <a:pathLst>
                <a:path h="2677922" w="10735056">
                  <a:moveTo>
                    <a:pt x="0" y="182880"/>
                  </a:moveTo>
                  <a:cubicBezTo>
                    <a:pt x="0" y="81915"/>
                    <a:pt x="82804" y="0"/>
                    <a:pt x="184785" y="0"/>
                  </a:cubicBezTo>
                  <a:lnTo>
                    <a:pt x="10550271" y="0"/>
                  </a:lnTo>
                  <a:cubicBezTo>
                    <a:pt x="10652378" y="0"/>
                    <a:pt x="10735056" y="81915"/>
                    <a:pt x="10735056" y="182880"/>
                  </a:cubicBezTo>
                  <a:lnTo>
                    <a:pt x="10735056" y="2495042"/>
                  </a:lnTo>
                  <a:cubicBezTo>
                    <a:pt x="10735056" y="2596007"/>
                    <a:pt x="10652252" y="2677922"/>
                    <a:pt x="10550271" y="2677922"/>
                  </a:cubicBezTo>
                  <a:lnTo>
                    <a:pt x="184785" y="2677922"/>
                  </a:lnTo>
                  <a:cubicBezTo>
                    <a:pt x="82677" y="2677922"/>
                    <a:pt x="0" y="2596007"/>
                    <a:pt x="0" y="249504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73156" cy="2716022"/>
            </a:xfrm>
            <a:custGeom>
              <a:avLst/>
              <a:gdLst/>
              <a:ahLst/>
              <a:cxnLst/>
              <a:rect r="r" b="b" t="t" l="l"/>
              <a:pathLst>
                <a:path h="2716022" w="10773156">
                  <a:moveTo>
                    <a:pt x="0" y="201930"/>
                  </a:moveTo>
                  <a:cubicBezTo>
                    <a:pt x="0" y="90170"/>
                    <a:pt x="91440" y="0"/>
                    <a:pt x="203835" y="0"/>
                  </a:cubicBezTo>
                  <a:lnTo>
                    <a:pt x="10569321" y="0"/>
                  </a:lnTo>
                  <a:lnTo>
                    <a:pt x="10569321" y="19050"/>
                  </a:lnTo>
                  <a:lnTo>
                    <a:pt x="10569321" y="0"/>
                  </a:lnTo>
                  <a:cubicBezTo>
                    <a:pt x="10681715" y="0"/>
                    <a:pt x="10773156" y="90170"/>
                    <a:pt x="10773156" y="201930"/>
                  </a:cubicBezTo>
                  <a:lnTo>
                    <a:pt x="10754106" y="201930"/>
                  </a:lnTo>
                  <a:lnTo>
                    <a:pt x="10773156" y="201930"/>
                  </a:lnTo>
                  <a:lnTo>
                    <a:pt x="10773156" y="2514092"/>
                  </a:lnTo>
                  <a:lnTo>
                    <a:pt x="10754106" y="2514092"/>
                  </a:lnTo>
                  <a:lnTo>
                    <a:pt x="10773156" y="2514092"/>
                  </a:lnTo>
                  <a:cubicBezTo>
                    <a:pt x="10773156" y="2625852"/>
                    <a:pt x="10681715" y="2716022"/>
                    <a:pt x="10569321" y="2716022"/>
                  </a:cubicBezTo>
                  <a:lnTo>
                    <a:pt x="10569321" y="2696972"/>
                  </a:lnTo>
                  <a:lnTo>
                    <a:pt x="10569321" y="2716022"/>
                  </a:lnTo>
                  <a:lnTo>
                    <a:pt x="203835" y="2716022"/>
                  </a:lnTo>
                  <a:lnTo>
                    <a:pt x="203835" y="2696972"/>
                  </a:lnTo>
                  <a:lnTo>
                    <a:pt x="203835" y="2716022"/>
                  </a:lnTo>
                  <a:cubicBezTo>
                    <a:pt x="91440" y="2716022"/>
                    <a:pt x="0" y="2625852"/>
                    <a:pt x="0" y="2514092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14092"/>
                  </a:lnTo>
                  <a:lnTo>
                    <a:pt x="19050" y="2514092"/>
                  </a:lnTo>
                  <a:lnTo>
                    <a:pt x="38100" y="2514092"/>
                  </a:lnTo>
                  <a:cubicBezTo>
                    <a:pt x="38100" y="2604389"/>
                    <a:pt x="112141" y="2677922"/>
                    <a:pt x="203835" y="2677922"/>
                  </a:cubicBezTo>
                  <a:lnTo>
                    <a:pt x="10569321" y="2677922"/>
                  </a:lnTo>
                  <a:cubicBezTo>
                    <a:pt x="10661014" y="2677922"/>
                    <a:pt x="10735056" y="2604389"/>
                    <a:pt x="10735056" y="2514092"/>
                  </a:cubicBezTo>
                  <a:lnTo>
                    <a:pt x="10735056" y="201930"/>
                  </a:lnTo>
                  <a:cubicBezTo>
                    <a:pt x="10735056" y="111633"/>
                    <a:pt x="10661014" y="38100"/>
                    <a:pt x="10569321" y="38100"/>
                  </a:cubicBezTo>
                  <a:lnTo>
                    <a:pt x="203835" y="38100"/>
                  </a:lnTo>
                  <a:lnTo>
                    <a:pt x="203835" y="19050"/>
                  </a:lnTo>
                  <a:lnTo>
                    <a:pt x="203835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8D4D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63663" y="3478263"/>
            <a:ext cx="114300" cy="2008432"/>
            <a:chOff x="0" y="0"/>
            <a:chExt cx="152400" cy="26779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" cy="2677922"/>
            </a:xfrm>
            <a:custGeom>
              <a:avLst/>
              <a:gdLst/>
              <a:ahLst/>
              <a:cxnLst/>
              <a:rect r="r" b="b" t="t" l="l"/>
              <a:pathLst>
                <a:path h="2677922" w="152400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107696" y="0"/>
                  </a:lnTo>
                  <a:cubicBezTo>
                    <a:pt x="132461" y="0"/>
                    <a:pt x="152400" y="19939"/>
                    <a:pt x="152400" y="44704"/>
                  </a:cubicBezTo>
                  <a:lnTo>
                    <a:pt x="152400" y="2633218"/>
                  </a:lnTo>
                  <a:cubicBezTo>
                    <a:pt x="152400" y="2657856"/>
                    <a:pt x="132461" y="2677922"/>
                    <a:pt x="107696" y="2677922"/>
                  </a:cubicBezTo>
                  <a:lnTo>
                    <a:pt x="44704" y="2677922"/>
                  </a:lnTo>
                  <a:cubicBezTo>
                    <a:pt x="20066" y="2677922"/>
                    <a:pt x="0" y="2657983"/>
                    <a:pt x="0" y="2633218"/>
                  </a:cubicBezTo>
                  <a:close/>
                </a:path>
              </a:pathLst>
            </a:custGeom>
            <a:solidFill>
              <a:srgbClr val="E04F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329776" y="3720551"/>
            <a:ext cx="4023865" cy="37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249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Асистент їзди по магістралях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9776" y="4169273"/>
            <a:ext cx="7461942" cy="1065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Система підтримує безпечну дистанцію та оптимальну швидкість навіть при русі понад 150 км/год, забезпечуючи плавність і стабільність на трасі.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30173" y="3463976"/>
            <a:ext cx="8079877" cy="2037007"/>
            <a:chOff x="0" y="0"/>
            <a:chExt cx="10773169" cy="27160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9050" y="19050"/>
              <a:ext cx="10735056" cy="2677922"/>
            </a:xfrm>
            <a:custGeom>
              <a:avLst/>
              <a:gdLst/>
              <a:ahLst/>
              <a:cxnLst/>
              <a:rect r="r" b="b" t="t" l="l"/>
              <a:pathLst>
                <a:path h="2677922" w="10735056">
                  <a:moveTo>
                    <a:pt x="0" y="182880"/>
                  </a:moveTo>
                  <a:cubicBezTo>
                    <a:pt x="0" y="81915"/>
                    <a:pt x="82804" y="0"/>
                    <a:pt x="184785" y="0"/>
                  </a:cubicBezTo>
                  <a:lnTo>
                    <a:pt x="10550271" y="0"/>
                  </a:lnTo>
                  <a:cubicBezTo>
                    <a:pt x="10652378" y="0"/>
                    <a:pt x="10735056" y="81915"/>
                    <a:pt x="10735056" y="182880"/>
                  </a:cubicBezTo>
                  <a:lnTo>
                    <a:pt x="10735056" y="2495042"/>
                  </a:lnTo>
                  <a:cubicBezTo>
                    <a:pt x="10735056" y="2596007"/>
                    <a:pt x="10652252" y="2677922"/>
                    <a:pt x="10550271" y="2677922"/>
                  </a:cubicBezTo>
                  <a:lnTo>
                    <a:pt x="184785" y="2677922"/>
                  </a:lnTo>
                  <a:cubicBezTo>
                    <a:pt x="82677" y="2677922"/>
                    <a:pt x="0" y="2596007"/>
                    <a:pt x="0" y="249504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73156" cy="2716022"/>
            </a:xfrm>
            <a:custGeom>
              <a:avLst/>
              <a:gdLst/>
              <a:ahLst/>
              <a:cxnLst/>
              <a:rect r="r" b="b" t="t" l="l"/>
              <a:pathLst>
                <a:path h="2716022" w="10773156">
                  <a:moveTo>
                    <a:pt x="0" y="201930"/>
                  </a:moveTo>
                  <a:cubicBezTo>
                    <a:pt x="0" y="90170"/>
                    <a:pt x="91440" y="0"/>
                    <a:pt x="203835" y="0"/>
                  </a:cubicBezTo>
                  <a:lnTo>
                    <a:pt x="10569321" y="0"/>
                  </a:lnTo>
                  <a:lnTo>
                    <a:pt x="10569321" y="19050"/>
                  </a:lnTo>
                  <a:lnTo>
                    <a:pt x="10569321" y="0"/>
                  </a:lnTo>
                  <a:cubicBezTo>
                    <a:pt x="10681715" y="0"/>
                    <a:pt x="10773156" y="90170"/>
                    <a:pt x="10773156" y="201930"/>
                  </a:cubicBezTo>
                  <a:lnTo>
                    <a:pt x="10754106" y="201930"/>
                  </a:lnTo>
                  <a:lnTo>
                    <a:pt x="10773156" y="201930"/>
                  </a:lnTo>
                  <a:lnTo>
                    <a:pt x="10773156" y="2514092"/>
                  </a:lnTo>
                  <a:lnTo>
                    <a:pt x="10754106" y="2514092"/>
                  </a:lnTo>
                  <a:lnTo>
                    <a:pt x="10773156" y="2514092"/>
                  </a:lnTo>
                  <a:cubicBezTo>
                    <a:pt x="10773156" y="2625852"/>
                    <a:pt x="10681715" y="2716022"/>
                    <a:pt x="10569321" y="2716022"/>
                  </a:cubicBezTo>
                  <a:lnTo>
                    <a:pt x="10569321" y="2696972"/>
                  </a:lnTo>
                  <a:lnTo>
                    <a:pt x="10569321" y="2716022"/>
                  </a:lnTo>
                  <a:lnTo>
                    <a:pt x="203835" y="2716022"/>
                  </a:lnTo>
                  <a:lnTo>
                    <a:pt x="203835" y="2696972"/>
                  </a:lnTo>
                  <a:lnTo>
                    <a:pt x="203835" y="2716022"/>
                  </a:lnTo>
                  <a:cubicBezTo>
                    <a:pt x="91440" y="2716022"/>
                    <a:pt x="0" y="2625852"/>
                    <a:pt x="0" y="2514092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14092"/>
                  </a:lnTo>
                  <a:lnTo>
                    <a:pt x="19050" y="2514092"/>
                  </a:lnTo>
                  <a:lnTo>
                    <a:pt x="38100" y="2514092"/>
                  </a:lnTo>
                  <a:cubicBezTo>
                    <a:pt x="38100" y="2604389"/>
                    <a:pt x="112141" y="2677922"/>
                    <a:pt x="203835" y="2677922"/>
                  </a:cubicBezTo>
                  <a:lnTo>
                    <a:pt x="10569321" y="2677922"/>
                  </a:lnTo>
                  <a:cubicBezTo>
                    <a:pt x="10661014" y="2677922"/>
                    <a:pt x="10735056" y="2604389"/>
                    <a:pt x="10735056" y="2514092"/>
                  </a:cubicBezTo>
                  <a:lnTo>
                    <a:pt x="10735056" y="201930"/>
                  </a:lnTo>
                  <a:cubicBezTo>
                    <a:pt x="10735056" y="111633"/>
                    <a:pt x="10661014" y="38100"/>
                    <a:pt x="10569321" y="38100"/>
                  </a:cubicBezTo>
                  <a:lnTo>
                    <a:pt x="203835" y="38100"/>
                  </a:lnTo>
                  <a:lnTo>
                    <a:pt x="203835" y="19050"/>
                  </a:lnTo>
                  <a:lnTo>
                    <a:pt x="203835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8D4D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215885" y="3478263"/>
            <a:ext cx="114300" cy="2008432"/>
            <a:chOff x="0" y="0"/>
            <a:chExt cx="152400" cy="26779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2400" cy="2677922"/>
            </a:xfrm>
            <a:custGeom>
              <a:avLst/>
              <a:gdLst/>
              <a:ahLst/>
              <a:cxnLst/>
              <a:rect r="r" b="b" t="t" l="l"/>
              <a:pathLst>
                <a:path h="2677922" w="152400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107696" y="0"/>
                  </a:lnTo>
                  <a:cubicBezTo>
                    <a:pt x="132461" y="0"/>
                    <a:pt x="152400" y="19939"/>
                    <a:pt x="152400" y="44704"/>
                  </a:cubicBezTo>
                  <a:lnTo>
                    <a:pt x="152400" y="2633218"/>
                  </a:lnTo>
                  <a:cubicBezTo>
                    <a:pt x="152400" y="2657856"/>
                    <a:pt x="132461" y="2677922"/>
                    <a:pt x="107696" y="2677922"/>
                  </a:cubicBezTo>
                  <a:lnTo>
                    <a:pt x="44704" y="2677922"/>
                  </a:lnTo>
                  <a:cubicBezTo>
                    <a:pt x="20066" y="2677922"/>
                    <a:pt x="0" y="2657983"/>
                    <a:pt x="0" y="2633218"/>
                  </a:cubicBezTo>
                  <a:close/>
                </a:path>
              </a:pathLst>
            </a:custGeom>
            <a:solidFill>
              <a:srgbClr val="E04F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581998" y="3720551"/>
            <a:ext cx="4144861" cy="37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249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Нічне бачення з тепловізором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81998" y="4169273"/>
            <a:ext cx="7461942" cy="1065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Завдяки інфрачервоній технології, система розпізнає пішоходів, тварин та інші перешкоди у повній темряві, значно знижуючи ризик нічних інцидентів.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77951" y="5673328"/>
            <a:ext cx="8079877" cy="2037007"/>
            <a:chOff x="0" y="0"/>
            <a:chExt cx="10773169" cy="271600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9050" y="19050"/>
              <a:ext cx="10735056" cy="2677922"/>
            </a:xfrm>
            <a:custGeom>
              <a:avLst/>
              <a:gdLst/>
              <a:ahLst/>
              <a:cxnLst/>
              <a:rect r="r" b="b" t="t" l="l"/>
              <a:pathLst>
                <a:path h="2677922" w="10735056">
                  <a:moveTo>
                    <a:pt x="0" y="182880"/>
                  </a:moveTo>
                  <a:cubicBezTo>
                    <a:pt x="0" y="81915"/>
                    <a:pt x="82804" y="0"/>
                    <a:pt x="184785" y="0"/>
                  </a:cubicBezTo>
                  <a:lnTo>
                    <a:pt x="10550271" y="0"/>
                  </a:lnTo>
                  <a:cubicBezTo>
                    <a:pt x="10652378" y="0"/>
                    <a:pt x="10735056" y="81915"/>
                    <a:pt x="10735056" y="182880"/>
                  </a:cubicBezTo>
                  <a:lnTo>
                    <a:pt x="10735056" y="2495042"/>
                  </a:lnTo>
                  <a:cubicBezTo>
                    <a:pt x="10735056" y="2596007"/>
                    <a:pt x="10652252" y="2677922"/>
                    <a:pt x="10550271" y="2677922"/>
                  </a:cubicBezTo>
                  <a:lnTo>
                    <a:pt x="184785" y="2677922"/>
                  </a:lnTo>
                  <a:cubicBezTo>
                    <a:pt x="82677" y="2677922"/>
                    <a:pt x="0" y="2596007"/>
                    <a:pt x="0" y="249504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73156" cy="2716022"/>
            </a:xfrm>
            <a:custGeom>
              <a:avLst/>
              <a:gdLst/>
              <a:ahLst/>
              <a:cxnLst/>
              <a:rect r="r" b="b" t="t" l="l"/>
              <a:pathLst>
                <a:path h="2716022" w="10773156">
                  <a:moveTo>
                    <a:pt x="0" y="201930"/>
                  </a:moveTo>
                  <a:cubicBezTo>
                    <a:pt x="0" y="90170"/>
                    <a:pt x="91440" y="0"/>
                    <a:pt x="203835" y="0"/>
                  </a:cubicBezTo>
                  <a:lnTo>
                    <a:pt x="10569321" y="0"/>
                  </a:lnTo>
                  <a:lnTo>
                    <a:pt x="10569321" y="19050"/>
                  </a:lnTo>
                  <a:lnTo>
                    <a:pt x="10569321" y="0"/>
                  </a:lnTo>
                  <a:cubicBezTo>
                    <a:pt x="10681715" y="0"/>
                    <a:pt x="10773156" y="90170"/>
                    <a:pt x="10773156" y="201930"/>
                  </a:cubicBezTo>
                  <a:lnTo>
                    <a:pt x="10754106" y="201930"/>
                  </a:lnTo>
                  <a:lnTo>
                    <a:pt x="10773156" y="201930"/>
                  </a:lnTo>
                  <a:lnTo>
                    <a:pt x="10773156" y="2514092"/>
                  </a:lnTo>
                  <a:lnTo>
                    <a:pt x="10754106" y="2514092"/>
                  </a:lnTo>
                  <a:lnTo>
                    <a:pt x="10773156" y="2514092"/>
                  </a:lnTo>
                  <a:cubicBezTo>
                    <a:pt x="10773156" y="2625852"/>
                    <a:pt x="10681715" y="2716022"/>
                    <a:pt x="10569321" y="2716022"/>
                  </a:cubicBezTo>
                  <a:lnTo>
                    <a:pt x="10569321" y="2696972"/>
                  </a:lnTo>
                  <a:lnTo>
                    <a:pt x="10569321" y="2716022"/>
                  </a:lnTo>
                  <a:lnTo>
                    <a:pt x="203835" y="2716022"/>
                  </a:lnTo>
                  <a:lnTo>
                    <a:pt x="203835" y="2696972"/>
                  </a:lnTo>
                  <a:lnTo>
                    <a:pt x="203835" y="2716022"/>
                  </a:lnTo>
                  <a:cubicBezTo>
                    <a:pt x="91440" y="2716022"/>
                    <a:pt x="0" y="2625852"/>
                    <a:pt x="0" y="2514092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14092"/>
                  </a:lnTo>
                  <a:lnTo>
                    <a:pt x="19050" y="2514092"/>
                  </a:lnTo>
                  <a:lnTo>
                    <a:pt x="38100" y="2514092"/>
                  </a:lnTo>
                  <a:cubicBezTo>
                    <a:pt x="38100" y="2604389"/>
                    <a:pt x="112141" y="2677922"/>
                    <a:pt x="203835" y="2677922"/>
                  </a:cubicBezTo>
                  <a:lnTo>
                    <a:pt x="10569321" y="2677922"/>
                  </a:lnTo>
                  <a:cubicBezTo>
                    <a:pt x="10661014" y="2677922"/>
                    <a:pt x="10735056" y="2604389"/>
                    <a:pt x="10735056" y="2514092"/>
                  </a:cubicBezTo>
                  <a:lnTo>
                    <a:pt x="10735056" y="201930"/>
                  </a:lnTo>
                  <a:cubicBezTo>
                    <a:pt x="10735056" y="111633"/>
                    <a:pt x="10661014" y="38100"/>
                    <a:pt x="10569321" y="38100"/>
                  </a:cubicBezTo>
                  <a:lnTo>
                    <a:pt x="203835" y="38100"/>
                  </a:lnTo>
                  <a:lnTo>
                    <a:pt x="203835" y="19050"/>
                  </a:lnTo>
                  <a:lnTo>
                    <a:pt x="203835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8D4D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63663" y="5687616"/>
            <a:ext cx="114300" cy="2008432"/>
            <a:chOff x="0" y="0"/>
            <a:chExt cx="152400" cy="267790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2400" cy="2677922"/>
            </a:xfrm>
            <a:custGeom>
              <a:avLst/>
              <a:gdLst/>
              <a:ahLst/>
              <a:cxnLst/>
              <a:rect r="r" b="b" t="t" l="l"/>
              <a:pathLst>
                <a:path h="2677922" w="152400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107696" y="0"/>
                  </a:lnTo>
                  <a:cubicBezTo>
                    <a:pt x="132461" y="0"/>
                    <a:pt x="152400" y="19939"/>
                    <a:pt x="152400" y="44704"/>
                  </a:cubicBezTo>
                  <a:lnTo>
                    <a:pt x="152400" y="2633218"/>
                  </a:lnTo>
                  <a:cubicBezTo>
                    <a:pt x="152400" y="2657856"/>
                    <a:pt x="132461" y="2677922"/>
                    <a:pt x="107696" y="2677922"/>
                  </a:cubicBezTo>
                  <a:lnTo>
                    <a:pt x="44704" y="2677922"/>
                  </a:lnTo>
                  <a:cubicBezTo>
                    <a:pt x="20066" y="2677922"/>
                    <a:pt x="0" y="2657983"/>
                    <a:pt x="0" y="2633218"/>
                  </a:cubicBezTo>
                  <a:close/>
                </a:path>
              </a:pathLst>
            </a:custGeom>
            <a:solidFill>
              <a:srgbClr val="E04F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329776" y="5929903"/>
            <a:ext cx="2962427" cy="37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249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Розпізнавання жестів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29776" y="6378626"/>
            <a:ext cx="7461942" cy="1065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Водій може інтуїтивно керувати мультимедійною системою та навігацією за допомогою простих жестів, мінімізуючи відволікання від дороги.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30173" y="5673328"/>
            <a:ext cx="8079877" cy="2037007"/>
            <a:chOff x="0" y="0"/>
            <a:chExt cx="10773169" cy="271600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9050" y="19050"/>
              <a:ext cx="10735056" cy="2677922"/>
            </a:xfrm>
            <a:custGeom>
              <a:avLst/>
              <a:gdLst/>
              <a:ahLst/>
              <a:cxnLst/>
              <a:rect r="r" b="b" t="t" l="l"/>
              <a:pathLst>
                <a:path h="2677922" w="10735056">
                  <a:moveTo>
                    <a:pt x="0" y="182880"/>
                  </a:moveTo>
                  <a:cubicBezTo>
                    <a:pt x="0" y="81915"/>
                    <a:pt x="82804" y="0"/>
                    <a:pt x="184785" y="0"/>
                  </a:cubicBezTo>
                  <a:lnTo>
                    <a:pt x="10550271" y="0"/>
                  </a:lnTo>
                  <a:cubicBezTo>
                    <a:pt x="10652378" y="0"/>
                    <a:pt x="10735056" y="81915"/>
                    <a:pt x="10735056" y="182880"/>
                  </a:cubicBezTo>
                  <a:lnTo>
                    <a:pt x="10735056" y="2495042"/>
                  </a:lnTo>
                  <a:cubicBezTo>
                    <a:pt x="10735056" y="2596007"/>
                    <a:pt x="10652252" y="2677922"/>
                    <a:pt x="10550271" y="2677922"/>
                  </a:cubicBezTo>
                  <a:lnTo>
                    <a:pt x="184785" y="2677922"/>
                  </a:lnTo>
                  <a:cubicBezTo>
                    <a:pt x="82677" y="2677922"/>
                    <a:pt x="0" y="2596007"/>
                    <a:pt x="0" y="249504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73156" cy="2716022"/>
            </a:xfrm>
            <a:custGeom>
              <a:avLst/>
              <a:gdLst/>
              <a:ahLst/>
              <a:cxnLst/>
              <a:rect r="r" b="b" t="t" l="l"/>
              <a:pathLst>
                <a:path h="2716022" w="10773156">
                  <a:moveTo>
                    <a:pt x="0" y="201930"/>
                  </a:moveTo>
                  <a:cubicBezTo>
                    <a:pt x="0" y="90170"/>
                    <a:pt x="91440" y="0"/>
                    <a:pt x="203835" y="0"/>
                  </a:cubicBezTo>
                  <a:lnTo>
                    <a:pt x="10569321" y="0"/>
                  </a:lnTo>
                  <a:lnTo>
                    <a:pt x="10569321" y="19050"/>
                  </a:lnTo>
                  <a:lnTo>
                    <a:pt x="10569321" y="0"/>
                  </a:lnTo>
                  <a:cubicBezTo>
                    <a:pt x="10681715" y="0"/>
                    <a:pt x="10773156" y="90170"/>
                    <a:pt x="10773156" y="201930"/>
                  </a:cubicBezTo>
                  <a:lnTo>
                    <a:pt x="10754106" y="201930"/>
                  </a:lnTo>
                  <a:lnTo>
                    <a:pt x="10773156" y="201930"/>
                  </a:lnTo>
                  <a:lnTo>
                    <a:pt x="10773156" y="2514092"/>
                  </a:lnTo>
                  <a:lnTo>
                    <a:pt x="10754106" y="2514092"/>
                  </a:lnTo>
                  <a:lnTo>
                    <a:pt x="10773156" y="2514092"/>
                  </a:lnTo>
                  <a:cubicBezTo>
                    <a:pt x="10773156" y="2625852"/>
                    <a:pt x="10681715" y="2716022"/>
                    <a:pt x="10569321" y="2716022"/>
                  </a:cubicBezTo>
                  <a:lnTo>
                    <a:pt x="10569321" y="2696972"/>
                  </a:lnTo>
                  <a:lnTo>
                    <a:pt x="10569321" y="2716022"/>
                  </a:lnTo>
                  <a:lnTo>
                    <a:pt x="203835" y="2716022"/>
                  </a:lnTo>
                  <a:lnTo>
                    <a:pt x="203835" y="2696972"/>
                  </a:lnTo>
                  <a:lnTo>
                    <a:pt x="203835" y="2716022"/>
                  </a:lnTo>
                  <a:cubicBezTo>
                    <a:pt x="91440" y="2716022"/>
                    <a:pt x="0" y="2625852"/>
                    <a:pt x="0" y="2514092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14092"/>
                  </a:lnTo>
                  <a:lnTo>
                    <a:pt x="19050" y="2514092"/>
                  </a:lnTo>
                  <a:lnTo>
                    <a:pt x="38100" y="2514092"/>
                  </a:lnTo>
                  <a:cubicBezTo>
                    <a:pt x="38100" y="2604389"/>
                    <a:pt x="112141" y="2677922"/>
                    <a:pt x="203835" y="2677922"/>
                  </a:cubicBezTo>
                  <a:lnTo>
                    <a:pt x="10569321" y="2677922"/>
                  </a:lnTo>
                  <a:cubicBezTo>
                    <a:pt x="10661014" y="2677922"/>
                    <a:pt x="10735056" y="2604389"/>
                    <a:pt x="10735056" y="2514092"/>
                  </a:cubicBezTo>
                  <a:lnTo>
                    <a:pt x="10735056" y="201930"/>
                  </a:lnTo>
                  <a:cubicBezTo>
                    <a:pt x="10735056" y="111633"/>
                    <a:pt x="10661014" y="38100"/>
                    <a:pt x="10569321" y="38100"/>
                  </a:cubicBezTo>
                  <a:lnTo>
                    <a:pt x="203835" y="38100"/>
                  </a:lnTo>
                  <a:lnTo>
                    <a:pt x="203835" y="19050"/>
                  </a:lnTo>
                  <a:lnTo>
                    <a:pt x="203835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8D4D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215885" y="5687616"/>
            <a:ext cx="114300" cy="2008432"/>
            <a:chOff x="0" y="0"/>
            <a:chExt cx="152400" cy="267790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2400" cy="2677922"/>
            </a:xfrm>
            <a:custGeom>
              <a:avLst/>
              <a:gdLst/>
              <a:ahLst/>
              <a:cxnLst/>
              <a:rect r="r" b="b" t="t" l="l"/>
              <a:pathLst>
                <a:path h="2677922" w="152400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107696" y="0"/>
                  </a:lnTo>
                  <a:cubicBezTo>
                    <a:pt x="132461" y="0"/>
                    <a:pt x="152400" y="19939"/>
                    <a:pt x="152400" y="44704"/>
                  </a:cubicBezTo>
                  <a:lnTo>
                    <a:pt x="152400" y="2633218"/>
                  </a:lnTo>
                  <a:cubicBezTo>
                    <a:pt x="152400" y="2657856"/>
                    <a:pt x="132461" y="2677922"/>
                    <a:pt x="107696" y="2677922"/>
                  </a:cubicBezTo>
                  <a:lnTo>
                    <a:pt x="44704" y="2677922"/>
                  </a:lnTo>
                  <a:cubicBezTo>
                    <a:pt x="20066" y="2677922"/>
                    <a:pt x="0" y="2657983"/>
                    <a:pt x="0" y="2633218"/>
                  </a:cubicBezTo>
                  <a:close/>
                </a:path>
              </a:pathLst>
            </a:custGeom>
            <a:solidFill>
              <a:srgbClr val="E04F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9581998" y="5929903"/>
            <a:ext cx="3040561" cy="37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249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Доповнена реальність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81998" y="6378626"/>
            <a:ext cx="7461942" cy="1065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Навігаційні підказки та важлива інформація проектуються безпосередньо на лобове скло, надаючи водієві миттєвий доступ до даних без відведення погляду.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31439"/>
            <a:ext cx="14623704" cy="679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5"/>
              </a:lnSpc>
            </a:pPr>
            <a:r>
              <a:rPr lang="en-US" sz="406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Автономність і допомога водієві: Ford готується до прориву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238" y="2707329"/>
            <a:ext cx="5227739" cy="3230909"/>
          </a:xfrm>
          <a:custGeom>
            <a:avLst/>
            <a:gdLst/>
            <a:ahLst/>
            <a:cxnLst/>
            <a:rect r="r" b="b" t="t" l="l"/>
            <a:pathLst>
              <a:path h="3230909" w="5227739">
                <a:moveTo>
                  <a:pt x="0" y="0"/>
                </a:moveTo>
                <a:lnTo>
                  <a:pt x="5227739" y="0"/>
                </a:lnTo>
                <a:lnTo>
                  <a:pt x="5227739" y="3230908"/>
                </a:lnTo>
                <a:lnTo>
                  <a:pt x="0" y="3230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4" t="0" r="-44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2238" y="6176667"/>
            <a:ext cx="3381823" cy="416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Стратегічні інвестиції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6675387"/>
            <a:ext cx="5227739" cy="205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Ford активно інвестує в розвиток ШІ, плануючи інтегрувати його в системи автономного водіння вже у 2027-2028 роках, закладаючи міцний технологічний фундамент у 2026 році.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6529978" y="2707329"/>
            <a:ext cx="5227882" cy="3231061"/>
          </a:xfrm>
          <a:custGeom>
            <a:avLst/>
            <a:gdLst/>
            <a:ahLst/>
            <a:cxnLst/>
            <a:rect r="r" b="b" t="t" l="l"/>
            <a:pathLst>
              <a:path h="3231061" w="5227882">
                <a:moveTo>
                  <a:pt x="0" y="0"/>
                </a:moveTo>
                <a:lnTo>
                  <a:pt x="5227882" y="0"/>
                </a:lnTo>
                <a:lnTo>
                  <a:pt x="5227882" y="3231061"/>
                </a:lnTo>
                <a:lnTo>
                  <a:pt x="0" y="32310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" t="0" r="-45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529978" y="6176810"/>
            <a:ext cx="3794970" cy="416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Вдосконалені алгоритми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29978" y="6675539"/>
            <a:ext cx="5227882" cy="205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Сучасні алгоритми ШІ аналізують дорожню ситуацію в реальному часі, прогнозуючи дії інших учасників руху та миттєво реагуючи на зміни, що значно підвищує рівень безпеки.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2067880" y="2707329"/>
            <a:ext cx="5227882" cy="3231061"/>
          </a:xfrm>
          <a:custGeom>
            <a:avLst/>
            <a:gdLst/>
            <a:ahLst/>
            <a:cxnLst/>
            <a:rect r="r" b="b" t="t" l="l"/>
            <a:pathLst>
              <a:path h="3231061" w="5227882">
                <a:moveTo>
                  <a:pt x="0" y="0"/>
                </a:moveTo>
                <a:lnTo>
                  <a:pt x="5227882" y="0"/>
                </a:lnTo>
                <a:lnTo>
                  <a:pt x="5227882" y="3231061"/>
                </a:lnTo>
                <a:lnTo>
                  <a:pt x="0" y="32310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5" t="0" r="-45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067880" y="6176810"/>
            <a:ext cx="3256207" cy="416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Плавна взаємодія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67880" y="6675539"/>
            <a:ext cx="5227882" cy="205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Ключовим аспектом є створення безшовної взаємодії між людиною та машиною, де ШІ виступає не заміною, а доповненням до водія, забезпечуючи інтуїтивний та безпечний досвід.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02046" y="1064266"/>
            <a:ext cx="9506541" cy="610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5"/>
              </a:lnSpc>
            </a:pPr>
            <a:r>
              <a:rPr lang="en-US" sz="3687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ШІ в Україні: розмитнення авто та безпека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02046" y="2267102"/>
            <a:ext cx="7966920" cy="6682978"/>
          </a:xfrm>
          <a:custGeom>
            <a:avLst/>
            <a:gdLst/>
            <a:ahLst/>
            <a:cxnLst/>
            <a:rect r="r" b="b" t="t" l="l"/>
            <a:pathLst>
              <a:path h="6682978" w="7966920">
                <a:moveTo>
                  <a:pt x="0" y="0"/>
                </a:moveTo>
                <a:lnTo>
                  <a:pt x="7966920" y="0"/>
                </a:lnTo>
                <a:lnTo>
                  <a:pt x="7966920" y="6682979"/>
                </a:lnTo>
                <a:lnTo>
                  <a:pt x="0" y="66829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" r="0" b="-51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428559" y="2267102"/>
            <a:ext cx="507359" cy="507359"/>
            <a:chOff x="0" y="0"/>
            <a:chExt cx="676478" cy="6764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6402" cy="676403"/>
            </a:xfrm>
            <a:custGeom>
              <a:avLst/>
              <a:gdLst/>
              <a:ahLst/>
              <a:cxnLst/>
              <a:rect r="r" b="b" t="t" l="l"/>
              <a:pathLst>
                <a:path h="676403" w="676402">
                  <a:moveTo>
                    <a:pt x="0" y="45085"/>
                  </a:moveTo>
                  <a:cubicBezTo>
                    <a:pt x="0" y="20193"/>
                    <a:pt x="20193" y="0"/>
                    <a:pt x="45085" y="0"/>
                  </a:cubicBezTo>
                  <a:lnTo>
                    <a:pt x="631317" y="0"/>
                  </a:lnTo>
                  <a:cubicBezTo>
                    <a:pt x="656209" y="0"/>
                    <a:pt x="676402" y="20193"/>
                    <a:pt x="676402" y="45085"/>
                  </a:cubicBezTo>
                  <a:lnTo>
                    <a:pt x="676402" y="631317"/>
                  </a:lnTo>
                  <a:cubicBezTo>
                    <a:pt x="676402" y="656209"/>
                    <a:pt x="656209" y="676402"/>
                    <a:pt x="631317" y="676402"/>
                  </a:cubicBezTo>
                  <a:lnTo>
                    <a:pt x="45085" y="676402"/>
                  </a:lnTo>
                  <a:cubicBezTo>
                    <a:pt x="20193" y="676529"/>
                    <a:pt x="0" y="656336"/>
                    <a:pt x="0" y="631317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504607" y="2346350"/>
            <a:ext cx="355102" cy="396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75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61384" y="2344493"/>
            <a:ext cx="5158530" cy="369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Автоматизація митного оформлення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61384" y="2873273"/>
            <a:ext cx="7234085" cy="150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Штучний інтелект значно спрощує та прискорює процедури розмитнення автомобілів, автоматично розпізнаючи VIN-коди, технічні паспорти та інші документи. Це мінімізує людський фактор і потенційні помилки.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428559" y="4833938"/>
            <a:ext cx="507359" cy="507359"/>
            <a:chOff x="0" y="0"/>
            <a:chExt cx="676478" cy="67647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6402" cy="676403"/>
            </a:xfrm>
            <a:custGeom>
              <a:avLst/>
              <a:gdLst/>
              <a:ahLst/>
              <a:cxnLst/>
              <a:rect r="r" b="b" t="t" l="l"/>
              <a:pathLst>
                <a:path h="676403" w="676402">
                  <a:moveTo>
                    <a:pt x="0" y="45085"/>
                  </a:moveTo>
                  <a:cubicBezTo>
                    <a:pt x="0" y="20193"/>
                    <a:pt x="20193" y="0"/>
                    <a:pt x="45085" y="0"/>
                  </a:cubicBezTo>
                  <a:lnTo>
                    <a:pt x="631317" y="0"/>
                  </a:lnTo>
                  <a:cubicBezTo>
                    <a:pt x="656209" y="0"/>
                    <a:pt x="676402" y="20193"/>
                    <a:pt x="676402" y="45085"/>
                  </a:cubicBezTo>
                  <a:lnTo>
                    <a:pt x="676402" y="631317"/>
                  </a:lnTo>
                  <a:cubicBezTo>
                    <a:pt x="676402" y="656209"/>
                    <a:pt x="656209" y="676402"/>
                    <a:pt x="631317" y="676402"/>
                  </a:cubicBezTo>
                  <a:lnTo>
                    <a:pt x="45085" y="676402"/>
                  </a:lnTo>
                  <a:cubicBezTo>
                    <a:pt x="20193" y="676529"/>
                    <a:pt x="0" y="656336"/>
                    <a:pt x="0" y="631317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504607" y="4913185"/>
            <a:ext cx="355102" cy="396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75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61384" y="4911328"/>
            <a:ext cx="3194294" cy="369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Прозорість і швидкість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61384" y="5440118"/>
            <a:ext cx="7234085" cy="114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Впровадження ШІ у митні процеси скорочує час та зусилля громадян, роблячи процес більш прозорим, передбачуваним і швидким, що сприяє зменшенню бюрократії.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28559" y="7040013"/>
            <a:ext cx="507359" cy="507359"/>
            <a:chOff x="0" y="0"/>
            <a:chExt cx="676478" cy="6764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6402" cy="676403"/>
            </a:xfrm>
            <a:custGeom>
              <a:avLst/>
              <a:gdLst/>
              <a:ahLst/>
              <a:cxnLst/>
              <a:rect r="r" b="b" t="t" l="l"/>
              <a:pathLst>
                <a:path h="676403" w="676402">
                  <a:moveTo>
                    <a:pt x="0" y="45085"/>
                  </a:moveTo>
                  <a:cubicBezTo>
                    <a:pt x="0" y="20193"/>
                    <a:pt x="20193" y="0"/>
                    <a:pt x="45085" y="0"/>
                  </a:cubicBezTo>
                  <a:lnTo>
                    <a:pt x="631317" y="0"/>
                  </a:lnTo>
                  <a:cubicBezTo>
                    <a:pt x="656209" y="0"/>
                    <a:pt x="676402" y="20193"/>
                    <a:pt x="676402" y="45085"/>
                  </a:cubicBezTo>
                  <a:lnTo>
                    <a:pt x="676402" y="631317"/>
                  </a:lnTo>
                  <a:cubicBezTo>
                    <a:pt x="676402" y="656209"/>
                    <a:pt x="656209" y="676402"/>
                    <a:pt x="631317" y="676402"/>
                  </a:cubicBezTo>
                  <a:lnTo>
                    <a:pt x="45085" y="676402"/>
                  </a:lnTo>
                  <a:cubicBezTo>
                    <a:pt x="20193" y="676529"/>
                    <a:pt x="0" y="656336"/>
                    <a:pt x="0" y="631317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9504607" y="7119271"/>
            <a:ext cx="355102" cy="396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75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61384" y="7117404"/>
            <a:ext cx="3495827" cy="369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Вплив на інфраструктуру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61384" y="7646194"/>
            <a:ext cx="7234085" cy="114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Інтеграція ШІ у транспортну інфраструктуру України є важливим кроком для розвитку внутрішнього ринку, покращення логістики та загального рівня безпеки на дорогах.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02469"/>
            <a:ext cx="13974966" cy="465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1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Інтелектуальні помічники: від голосового управління до моніторингу стану водія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1001763" y="1526229"/>
            <a:ext cx="5943448" cy="2083889"/>
          </a:xfrm>
          <a:custGeom>
            <a:avLst/>
            <a:gdLst/>
            <a:ahLst/>
            <a:cxnLst/>
            <a:rect r="r" b="b" t="t" l="l"/>
            <a:pathLst>
              <a:path h="2083889" w="5943448">
                <a:moveTo>
                  <a:pt x="0" y="0"/>
                </a:moveTo>
                <a:lnTo>
                  <a:pt x="5943448" y="0"/>
                </a:lnTo>
                <a:lnTo>
                  <a:pt x="5943448" y="2083889"/>
                </a:lnTo>
                <a:lnTo>
                  <a:pt x="0" y="2083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" r="0" b="-48"/>
            </a:stretch>
          </a:blipFill>
        </p:spPr>
      </p:sp>
      <p:sp>
        <p:nvSpPr>
          <p:cNvPr name="Freeform 8" id="8" descr="preencoded.png"/>
          <p:cNvSpPr/>
          <p:nvPr/>
        </p:nvSpPr>
        <p:spPr>
          <a:xfrm flipH="false" flipV="false" rot="0">
            <a:off x="7084066" y="1526229"/>
            <a:ext cx="3859559" cy="2083889"/>
          </a:xfrm>
          <a:custGeom>
            <a:avLst/>
            <a:gdLst/>
            <a:ahLst/>
            <a:cxnLst/>
            <a:rect r="r" b="b" t="t" l="l"/>
            <a:pathLst>
              <a:path h="2083889" w="3859559">
                <a:moveTo>
                  <a:pt x="0" y="0"/>
                </a:moveTo>
                <a:lnTo>
                  <a:pt x="3859559" y="0"/>
                </a:lnTo>
                <a:lnTo>
                  <a:pt x="3859559" y="2083889"/>
                </a:lnTo>
                <a:lnTo>
                  <a:pt x="0" y="20838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4" r="0" b="-75"/>
            </a:stretch>
          </a:blipFill>
        </p:spPr>
      </p:sp>
      <p:sp>
        <p:nvSpPr>
          <p:cNvPr name="Freeform 9" id="9" descr="preencoded.png"/>
          <p:cNvSpPr/>
          <p:nvPr/>
        </p:nvSpPr>
        <p:spPr>
          <a:xfrm flipH="false" flipV="false" rot="0">
            <a:off x="11082490" y="1526229"/>
            <a:ext cx="6203899" cy="2083889"/>
          </a:xfrm>
          <a:custGeom>
            <a:avLst/>
            <a:gdLst/>
            <a:ahLst/>
            <a:cxnLst/>
            <a:rect r="r" b="b" t="t" l="l"/>
            <a:pathLst>
              <a:path h="2083889" w="6203899">
                <a:moveTo>
                  <a:pt x="0" y="0"/>
                </a:moveTo>
                <a:lnTo>
                  <a:pt x="6203899" y="0"/>
                </a:lnTo>
                <a:lnTo>
                  <a:pt x="6203899" y="2083889"/>
                </a:lnTo>
                <a:lnTo>
                  <a:pt x="0" y="20838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5" r="0" b="-74"/>
            </a:stretch>
          </a:blipFill>
        </p:spPr>
      </p:sp>
      <p:sp>
        <p:nvSpPr>
          <p:cNvPr name="Freeform 10" id="10" descr="preencoded.png"/>
          <p:cNvSpPr/>
          <p:nvPr/>
        </p:nvSpPr>
        <p:spPr>
          <a:xfrm flipH="false" flipV="false" rot="0">
            <a:off x="1001763" y="3748983"/>
            <a:ext cx="16284473" cy="2083889"/>
          </a:xfrm>
          <a:custGeom>
            <a:avLst/>
            <a:gdLst/>
            <a:ahLst/>
            <a:cxnLst/>
            <a:rect r="r" b="b" t="t" l="l"/>
            <a:pathLst>
              <a:path h="2083889" w="16284473">
                <a:moveTo>
                  <a:pt x="0" y="0"/>
                </a:moveTo>
                <a:lnTo>
                  <a:pt x="16284474" y="0"/>
                </a:lnTo>
                <a:lnTo>
                  <a:pt x="16284474" y="2083889"/>
                </a:lnTo>
                <a:lnTo>
                  <a:pt x="0" y="20838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9" r="0" b="-4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82713" y="6075464"/>
            <a:ext cx="8110090" cy="1703337"/>
            <a:chOff x="0" y="0"/>
            <a:chExt cx="10813453" cy="22711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10788015" cy="2245741"/>
            </a:xfrm>
            <a:custGeom>
              <a:avLst/>
              <a:gdLst/>
              <a:ahLst/>
              <a:cxnLst/>
              <a:rect r="r" b="b" t="t" l="l"/>
              <a:pathLst>
                <a:path h="2245741" w="10788015">
                  <a:moveTo>
                    <a:pt x="0" y="34798"/>
                  </a:moveTo>
                  <a:cubicBezTo>
                    <a:pt x="0" y="15494"/>
                    <a:pt x="15748" y="0"/>
                    <a:pt x="35052" y="0"/>
                  </a:cubicBezTo>
                  <a:lnTo>
                    <a:pt x="10752963" y="0"/>
                  </a:lnTo>
                  <a:cubicBezTo>
                    <a:pt x="10772267" y="0"/>
                    <a:pt x="10788015" y="15494"/>
                    <a:pt x="10788015" y="34798"/>
                  </a:cubicBezTo>
                  <a:lnTo>
                    <a:pt x="10788015" y="2210943"/>
                  </a:lnTo>
                  <a:cubicBezTo>
                    <a:pt x="10788015" y="2230120"/>
                    <a:pt x="10772267" y="2245741"/>
                    <a:pt x="10752963" y="2245741"/>
                  </a:cubicBezTo>
                  <a:lnTo>
                    <a:pt x="35052" y="2245741"/>
                  </a:lnTo>
                  <a:cubicBezTo>
                    <a:pt x="15748" y="2245741"/>
                    <a:pt x="0" y="2230247"/>
                    <a:pt x="0" y="221094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813415" cy="2271141"/>
            </a:xfrm>
            <a:custGeom>
              <a:avLst/>
              <a:gdLst/>
              <a:ahLst/>
              <a:cxnLst/>
              <a:rect r="r" b="b" t="t" l="l"/>
              <a:pathLst>
                <a:path h="2271141" w="10813415">
                  <a:moveTo>
                    <a:pt x="0" y="47498"/>
                  </a:moveTo>
                  <a:cubicBezTo>
                    <a:pt x="0" y="21082"/>
                    <a:pt x="21463" y="0"/>
                    <a:pt x="47752" y="0"/>
                  </a:cubicBezTo>
                  <a:lnTo>
                    <a:pt x="10765663" y="0"/>
                  </a:lnTo>
                  <a:lnTo>
                    <a:pt x="10765663" y="12700"/>
                  </a:lnTo>
                  <a:lnTo>
                    <a:pt x="10765663" y="0"/>
                  </a:lnTo>
                  <a:cubicBezTo>
                    <a:pt x="10791952" y="0"/>
                    <a:pt x="10813415" y="21082"/>
                    <a:pt x="10813415" y="47498"/>
                  </a:cubicBezTo>
                  <a:lnTo>
                    <a:pt x="10800715" y="47498"/>
                  </a:lnTo>
                  <a:lnTo>
                    <a:pt x="10813415" y="47498"/>
                  </a:lnTo>
                  <a:lnTo>
                    <a:pt x="10813415" y="2223643"/>
                  </a:lnTo>
                  <a:lnTo>
                    <a:pt x="10800715" y="2223643"/>
                  </a:lnTo>
                  <a:lnTo>
                    <a:pt x="10813415" y="2223643"/>
                  </a:lnTo>
                  <a:cubicBezTo>
                    <a:pt x="10813415" y="2249932"/>
                    <a:pt x="10791952" y="2271141"/>
                    <a:pt x="10765663" y="2271141"/>
                  </a:cubicBezTo>
                  <a:lnTo>
                    <a:pt x="10765663" y="2258441"/>
                  </a:lnTo>
                  <a:lnTo>
                    <a:pt x="10765663" y="2271141"/>
                  </a:lnTo>
                  <a:lnTo>
                    <a:pt x="47752" y="2271141"/>
                  </a:lnTo>
                  <a:lnTo>
                    <a:pt x="47752" y="2258441"/>
                  </a:lnTo>
                  <a:lnTo>
                    <a:pt x="47752" y="2271141"/>
                  </a:lnTo>
                  <a:cubicBezTo>
                    <a:pt x="21463" y="2271141"/>
                    <a:pt x="0" y="2250059"/>
                    <a:pt x="0" y="2223643"/>
                  </a:cubicBezTo>
                  <a:lnTo>
                    <a:pt x="0" y="47498"/>
                  </a:lnTo>
                  <a:lnTo>
                    <a:pt x="12700" y="47498"/>
                  </a:lnTo>
                  <a:lnTo>
                    <a:pt x="0" y="47498"/>
                  </a:lnTo>
                  <a:moveTo>
                    <a:pt x="25400" y="47498"/>
                  </a:moveTo>
                  <a:lnTo>
                    <a:pt x="25400" y="2223643"/>
                  </a:lnTo>
                  <a:lnTo>
                    <a:pt x="12700" y="2223643"/>
                  </a:lnTo>
                  <a:lnTo>
                    <a:pt x="25400" y="2223643"/>
                  </a:lnTo>
                  <a:cubicBezTo>
                    <a:pt x="25400" y="2235708"/>
                    <a:pt x="35306" y="2245741"/>
                    <a:pt x="47752" y="2245741"/>
                  </a:cubicBezTo>
                  <a:lnTo>
                    <a:pt x="10765663" y="2245741"/>
                  </a:lnTo>
                  <a:cubicBezTo>
                    <a:pt x="10778109" y="2245741"/>
                    <a:pt x="10788015" y="2235708"/>
                    <a:pt x="10788015" y="2223643"/>
                  </a:cubicBezTo>
                  <a:lnTo>
                    <a:pt x="10788015" y="47498"/>
                  </a:lnTo>
                  <a:cubicBezTo>
                    <a:pt x="10788015" y="35433"/>
                    <a:pt x="10778109" y="25400"/>
                    <a:pt x="10765663" y="25400"/>
                  </a:cubicBezTo>
                  <a:lnTo>
                    <a:pt x="47752" y="25400"/>
                  </a:lnTo>
                  <a:lnTo>
                    <a:pt x="47752" y="12700"/>
                  </a:lnTo>
                  <a:lnTo>
                    <a:pt x="47752" y="25400"/>
                  </a:lnTo>
                  <a:cubicBezTo>
                    <a:pt x="35306" y="25400"/>
                    <a:pt x="25400" y="35433"/>
                    <a:pt x="25400" y="47498"/>
                  </a:cubicBezTo>
                  <a:close/>
                </a:path>
              </a:pathLst>
            </a:custGeom>
            <a:solidFill>
              <a:srgbClr val="D8D4D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11288" y="6104039"/>
            <a:ext cx="8052940" cy="520903"/>
            <a:chOff x="0" y="0"/>
            <a:chExt cx="10737253" cy="6945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37215" cy="694436"/>
            </a:xfrm>
            <a:custGeom>
              <a:avLst/>
              <a:gdLst/>
              <a:ahLst/>
              <a:cxnLst/>
              <a:rect r="r" b="b" t="t" l="l"/>
              <a:pathLst>
                <a:path h="694436" w="10737215">
                  <a:moveTo>
                    <a:pt x="0" y="4191"/>
                  </a:moveTo>
                  <a:cubicBezTo>
                    <a:pt x="0" y="1905"/>
                    <a:pt x="1905" y="0"/>
                    <a:pt x="4191" y="0"/>
                  </a:cubicBezTo>
                  <a:lnTo>
                    <a:pt x="10733024" y="0"/>
                  </a:lnTo>
                  <a:cubicBezTo>
                    <a:pt x="10735310" y="0"/>
                    <a:pt x="10737215" y="1905"/>
                    <a:pt x="10737215" y="4191"/>
                  </a:cubicBezTo>
                  <a:lnTo>
                    <a:pt x="10737215" y="690245"/>
                  </a:lnTo>
                  <a:cubicBezTo>
                    <a:pt x="10737215" y="692531"/>
                    <a:pt x="10735310" y="694436"/>
                    <a:pt x="10733024" y="694436"/>
                  </a:cubicBezTo>
                  <a:lnTo>
                    <a:pt x="4191" y="694436"/>
                  </a:lnTo>
                  <a:cubicBezTo>
                    <a:pt x="1905" y="694436"/>
                    <a:pt x="0" y="692531"/>
                    <a:pt x="0" y="690245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4907461" y="6230245"/>
            <a:ext cx="260452" cy="296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4824" y="6746377"/>
            <a:ext cx="2279304" cy="285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Голосові асистенти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4824" y="7085257"/>
            <a:ext cx="7705877" cy="491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1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Інтелектуальні голосові асистенти дозволяють керувати більшістю функцій автомобіля — від навігації та музики до клімат-контролю — без відволікання від дороги.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195197" y="6075464"/>
            <a:ext cx="8110090" cy="1703337"/>
            <a:chOff x="0" y="0"/>
            <a:chExt cx="10813453" cy="22711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12700"/>
              <a:ext cx="10788015" cy="2245741"/>
            </a:xfrm>
            <a:custGeom>
              <a:avLst/>
              <a:gdLst/>
              <a:ahLst/>
              <a:cxnLst/>
              <a:rect r="r" b="b" t="t" l="l"/>
              <a:pathLst>
                <a:path h="2245741" w="10788015">
                  <a:moveTo>
                    <a:pt x="0" y="34798"/>
                  </a:moveTo>
                  <a:cubicBezTo>
                    <a:pt x="0" y="15494"/>
                    <a:pt x="15748" y="0"/>
                    <a:pt x="35052" y="0"/>
                  </a:cubicBezTo>
                  <a:lnTo>
                    <a:pt x="10752963" y="0"/>
                  </a:lnTo>
                  <a:cubicBezTo>
                    <a:pt x="10772267" y="0"/>
                    <a:pt x="10788015" y="15494"/>
                    <a:pt x="10788015" y="34798"/>
                  </a:cubicBezTo>
                  <a:lnTo>
                    <a:pt x="10788015" y="2210943"/>
                  </a:lnTo>
                  <a:cubicBezTo>
                    <a:pt x="10788015" y="2230120"/>
                    <a:pt x="10772267" y="2245741"/>
                    <a:pt x="10752963" y="2245741"/>
                  </a:cubicBezTo>
                  <a:lnTo>
                    <a:pt x="35052" y="2245741"/>
                  </a:lnTo>
                  <a:cubicBezTo>
                    <a:pt x="15748" y="2245741"/>
                    <a:pt x="0" y="2230247"/>
                    <a:pt x="0" y="221094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13415" cy="2271141"/>
            </a:xfrm>
            <a:custGeom>
              <a:avLst/>
              <a:gdLst/>
              <a:ahLst/>
              <a:cxnLst/>
              <a:rect r="r" b="b" t="t" l="l"/>
              <a:pathLst>
                <a:path h="2271141" w="10813415">
                  <a:moveTo>
                    <a:pt x="0" y="47498"/>
                  </a:moveTo>
                  <a:cubicBezTo>
                    <a:pt x="0" y="21082"/>
                    <a:pt x="21463" y="0"/>
                    <a:pt x="47752" y="0"/>
                  </a:cubicBezTo>
                  <a:lnTo>
                    <a:pt x="10765663" y="0"/>
                  </a:lnTo>
                  <a:lnTo>
                    <a:pt x="10765663" y="12700"/>
                  </a:lnTo>
                  <a:lnTo>
                    <a:pt x="10765663" y="0"/>
                  </a:lnTo>
                  <a:cubicBezTo>
                    <a:pt x="10791952" y="0"/>
                    <a:pt x="10813415" y="21082"/>
                    <a:pt x="10813415" y="47498"/>
                  </a:cubicBezTo>
                  <a:lnTo>
                    <a:pt x="10800715" y="47498"/>
                  </a:lnTo>
                  <a:lnTo>
                    <a:pt x="10813415" y="47498"/>
                  </a:lnTo>
                  <a:lnTo>
                    <a:pt x="10813415" y="2223643"/>
                  </a:lnTo>
                  <a:lnTo>
                    <a:pt x="10800715" y="2223643"/>
                  </a:lnTo>
                  <a:lnTo>
                    <a:pt x="10813415" y="2223643"/>
                  </a:lnTo>
                  <a:cubicBezTo>
                    <a:pt x="10813415" y="2249932"/>
                    <a:pt x="10791952" y="2271141"/>
                    <a:pt x="10765663" y="2271141"/>
                  </a:cubicBezTo>
                  <a:lnTo>
                    <a:pt x="10765663" y="2258441"/>
                  </a:lnTo>
                  <a:lnTo>
                    <a:pt x="10765663" y="2271141"/>
                  </a:lnTo>
                  <a:lnTo>
                    <a:pt x="47752" y="2271141"/>
                  </a:lnTo>
                  <a:lnTo>
                    <a:pt x="47752" y="2258441"/>
                  </a:lnTo>
                  <a:lnTo>
                    <a:pt x="47752" y="2271141"/>
                  </a:lnTo>
                  <a:cubicBezTo>
                    <a:pt x="21463" y="2271141"/>
                    <a:pt x="0" y="2250059"/>
                    <a:pt x="0" y="2223643"/>
                  </a:cubicBezTo>
                  <a:lnTo>
                    <a:pt x="0" y="47498"/>
                  </a:lnTo>
                  <a:lnTo>
                    <a:pt x="12700" y="47498"/>
                  </a:lnTo>
                  <a:lnTo>
                    <a:pt x="0" y="47498"/>
                  </a:lnTo>
                  <a:moveTo>
                    <a:pt x="25400" y="47498"/>
                  </a:moveTo>
                  <a:lnTo>
                    <a:pt x="25400" y="2223643"/>
                  </a:lnTo>
                  <a:lnTo>
                    <a:pt x="12700" y="2223643"/>
                  </a:lnTo>
                  <a:lnTo>
                    <a:pt x="25400" y="2223643"/>
                  </a:lnTo>
                  <a:cubicBezTo>
                    <a:pt x="25400" y="2235708"/>
                    <a:pt x="35306" y="2245741"/>
                    <a:pt x="47752" y="2245741"/>
                  </a:cubicBezTo>
                  <a:lnTo>
                    <a:pt x="10765663" y="2245741"/>
                  </a:lnTo>
                  <a:cubicBezTo>
                    <a:pt x="10778109" y="2245741"/>
                    <a:pt x="10788015" y="2235708"/>
                    <a:pt x="10788015" y="2223643"/>
                  </a:cubicBezTo>
                  <a:lnTo>
                    <a:pt x="10788015" y="47498"/>
                  </a:lnTo>
                  <a:cubicBezTo>
                    <a:pt x="10788015" y="35433"/>
                    <a:pt x="10778109" y="25400"/>
                    <a:pt x="10765663" y="25400"/>
                  </a:cubicBezTo>
                  <a:lnTo>
                    <a:pt x="47752" y="25400"/>
                  </a:lnTo>
                  <a:lnTo>
                    <a:pt x="47752" y="12700"/>
                  </a:lnTo>
                  <a:lnTo>
                    <a:pt x="47752" y="25400"/>
                  </a:lnTo>
                  <a:cubicBezTo>
                    <a:pt x="35306" y="25400"/>
                    <a:pt x="25400" y="35433"/>
                    <a:pt x="25400" y="47498"/>
                  </a:cubicBezTo>
                  <a:close/>
                </a:path>
              </a:pathLst>
            </a:custGeom>
            <a:solidFill>
              <a:srgbClr val="D8D4D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223772" y="6104039"/>
            <a:ext cx="8052940" cy="520903"/>
            <a:chOff x="0" y="0"/>
            <a:chExt cx="10737253" cy="69453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37215" cy="694436"/>
            </a:xfrm>
            <a:custGeom>
              <a:avLst/>
              <a:gdLst/>
              <a:ahLst/>
              <a:cxnLst/>
              <a:rect r="r" b="b" t="t" l="l"/>
              <a:pathLst>
                <a:path h="694436" w="10737215">
                  <a:moveTo>
                    <a:pt x="0" y="4191"/>
                  </a:moveTo>
                  <a:cubicBezTo>
                    <a:pt x="0" y="1905"/>
                    <a:pt x="1905" y="0"/>
                    <a:pt x="4191" y="0"/>
                  </a:cubicBezTo>
                  <a:lnTo>
                    <a:pt x="10733024" y="0"/>
                  </a:lnTo>
                  <a:cubicBezTo>
                    <a:pt x="10735310" y="0"/>
                    <a:pt x="10737215" y="1905"/>
                    <a:pt x="10737215" y="4191"/>
                  </a:cubicBezTo>
                  <a:lnTo>
                    <a:pt x="10737215" y="690245"/>
                  </a:lnTo>
                  <a:cubicBezTo>
                    <a:pt x="10737215" y="692531"/>
                    <a:pt x="10735310" y="694436"/>
                    <a:pt x="10733024" y="694436"/>
                  </a:cubicBezTo>
                  <a:lnTo>
                    <a:pt x="4191" y="694436"/>
                  </a:lnTo>
                  <a:cubicBezTo>
                    <a:pt x="1905" y="694436"/>
                    <a:pt x="0" y="692531"/>
                    <a:pt x="0" y="690245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3119945" y="6230245"/>
            <a:ext cx="260452" cy="296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97308" y="6746377"/>
            <a:ext cx="2608507" cy="285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Моніторинг втоми водія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97308" y="7085257"/>
            <a:ext cx="7705877" cy="491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1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Системи ШІ постійно аналізують стан водія, розпізнаючи ознаки втоми та сонливості, і попереджають про необхідність відпочинку, запобігаючи небезпечним ситуаціям.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82713" y="7881195"/>
            <a:ext cx="8110090" cy="1703337"/>
            <a:chOff x="0" y="0"/>
            <a:chExt cx="10813453" cy="22711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2700" y="12700"/>
              <a:ext cx="10788015" cy="2245741"/>
            </a:xfrm>
            <a:custGeom>
              <a:avLst/>
              <a:gdLst/>
              <a:ahLst/>
              <a:cxnLst/>
              <a:rect r="r" b="b" t="t" l="l"/>
              <a:pathLst>
                <a:path h="2245741" w="10788015">
                  <a:moveTo>
                    <a:pt x="0" y="34798"/>
                  </a:moveTo>
                  <a:cubicBezTo>
                    <a:pt x="0" y="15494"/>
                    <a:pt x="15748" y="0"/>
                    <a:pt x="35052" y="0"/>
                  </a:cubicBezTo>
                  <a:lnTo>
                    <a:pt x="10752963" y="0"/>
                  </a:lnTo>
                  <a:cubicBezTo>
                    <a:pt x="10772267" y="0"/>
                    <a:pt x="10788015" y="15494"/>
                    <a:pt x="10788015" y="34798"/>
                  </a:cubicBezTo>
                  <a:lnTo>
                    <a:pt x="10788015" y="2210943"/>
                  </a:lnTo>
                  <a:cubicBezTo>
                    <a:pt x="10788015" y="2230120"/>
                    <a:pt x="10772267" y="2245741"/>
                    <a:pt x="10752963" y="2245741"/>
                  </a:cubicBezTo>
                  <a:lnTo>
                    <a:pt x="35052" y="2245741"/>
                  </a:lnTo>
                  <a:cubicBezTo>
                    <a:pt x="15748" y="2245741"/>
                    <a:pt x="0" y="2230247"/>
                    <a:pt x="0" y="221094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13415" cy="2271141"/>
            </a:xfrm>
            <a:custGeom>
              <a:avLst/>
              <a:gdLst/>
              <a:ahLst/>
              <a:cxnLst/>
              <a:rect r="r" b="b" t="t" l="l"/>
              <a:pathLst>
                <a:path h="2271141" w="10813415">
                  <a:moveTo>
                    <a:pt x="0" y="47498"/>
                  </a:moveTo>
                  <a:cubicBezTo>
                    <a:pt x="0" y="21082"/>
                    <a:pt x="21463" y="0"/>
                    <a:pt x="47752" y="0"/>
                  </a:cubicBezTo>
                  <a:lnTo>
                    <a:pt x="10765663" y="0"/>
                  </a:lnTo>
                  <a:lnTo>
                    <a:pt x="10765663" y="12700"/>
                  </a:lnTo>
                  <a:lnTo>
                    <a:pt x="10765663" y="0"/>
                  </a:lnTo>
                  <a:cubicBezTo>
                    <a:pt x="10791952" y="0"/>
                    <a:pt x="10813415" y="21082"/>
                    <a:pt x="10813415" y="47498"/>
                  </a:cubicBezTo>
                  <a:lnTo>
                    <a:pt x="10800715" y="47498"/>
                  </a:lnTo>
                  <a:lnTo>
                    <a:pt x="10813415" y="47498"/>
                  </a:lnTo>
                  <a:lnTo>
                    <a:pt x="10813415" y="2223643"/>
                  </a:lnTo>
                  <a:lnTo>
                    <a:pt x="10800715" y="2223643"/>
                  </a:lnTo>
                  <a:lnTo>
                    <a:pt x="10813415" y="2223643"/>
                  </a:lnTo>
                  <a:cubicBezTo>
                    <a:pt x="10813415" y="2249932"/>
                    <a:pt x="10791952" y="2271141"/>
                    <a:pt x="10765663" y="2271141"/>
                  </a:cubicBezTo>
                  <a:lnTo>
                    <a:pt x="10765663" y="2258441"/>
                  </a:lnTo>
                  <a:lnTo>
                    <a:pt x="10765663" y="2271141"/>
                  </a:lnTo>
                  <a:lnTo>
                    <a:pt x="47752" y="2271141"/>
                  </a:lnTo>
                  <a:lnTo>
                    <a:pt x="47752" y="2258441"/>
                  </a:lnTo>
                  <a:lnTo>
                    <a:pt x="47752" y="2271141"/>
                  </a:lnTo>
                  <a:cubicBezTo>
                    <a:pt x="21463" y="2271141"/>
                    <a:pt x="0" y="2250059"/>
                    <a:pt x="0" y="2223643"/>
                  </a:cubicBezTo>
                  <a:lnTo>
                    <a:pt x="0" y="47498"/>
                  </a:lnTo>
                  <a:lnTo>
                    <a:pt x="12700" y="47498"/>
                  </a:lnTo>
                  <a:lnTo>
                    <a:pt x="0" y="47498"/>
                  </a:lnTo>
                  <a:moveTo>
                    <a:pt x="25400" y="47498"/>
                  </a:moveTo>
                  <a:lnTo>
                    <a:pt x="25400" y="2223643"/>
                  </a:lnTo>
                  <a:lnTo>
                    <a:pt x="12700" y="2223643"/>
                  </a:lnTo>
                  <a:lnTo>
                    <a:pt x="25400" y="2223643"/>
                  </a:lnTo>
                  <a:cubicBezTo>
                    <a:pt x="25400" y="2235708"/>
                    <a:pt x="35306" y="2245741"/>
                    <a:pt x="47752" y="2245741"/>
                  </a:cubicBezTo>
                  <a:lnTo>
                    <a:pt x="10765663" y="2245741"/>
                  </a:lnTo>
                  <a:cubicBezTo>
                    <a:pt x="10778109" y="2245741"/>
                    <a:pt x="10788015" y="2235708"/>
                    <a:pt x="10788015" y="2223643"/>
                  </a:cubicBezTo>
                  <a:lnTo>
                    <a:pt x="10788015" y="47498"/>
                  </a:lnTo>
                  <a:cubicBezTo>
                    <a:pt x="10788015" y="35433"/>
                    <a:pt x="10778109" y="25400"/>
                    <a:pt x="10765663" y="25400"/>
                  </a:cubicBezTo>
                  <a:lnTo>
                    <a:pt x="47752" y="25400"/>
                  </a:lnTo>
                  <a:lnTo>
                    <a:pt x="47752" y="12700"/>
                  </a:lnTo>
                  <a:lnTo>
                    <a:pt x="47752" y="25400"/>
                  </a:lnTo>
                  <a:cubicBezTo>
                    <a:pt x="35306" y="25400"/>
                    <a:pt x="25400" y="35433"/>
                    <a:pt x="25400" y="47498"/>
                  </a:cubicBezTo>
                  <a:close/>
                </a:path>
              </a:pathLst>
            </a:custGeom>
            <a:solidFill>
              <a:srgbClr val="D8D4D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11288" y="7909770"/>
            <a:ext cx="8052940" cy="520903"/>
            <a:chOff x="0" y="0"/>
            <a:chExt cx="10737253" cy="69453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37215" cy="694436"/>
            </a:xfrm>
            <a:custGeom>
              <a:avLst/>
              <a:gdLst/>
              <a:ahLst/>
              <a:cxnLst/>
              <a:rect r="r" b="b" t="t" l="l"/>
              <a:pathLst>
                <a:path h="694436" w="10737215">
                  <a:moveTo>
                    <a:pt x="0" y="4191"/>
                  </a:moveTo>
                  <a:cubicBezTo>
                    <a:pt x="0" y="1905"/>
                    <a:pt x="1905" y="0"/>
                    <a:pt x="4191" y="0"/>
                  </a:cubicBezTo>
                  <a:lnTo>
                    <a:pt x="10733024" y="0"/>
                  </a:lnTo>
                  <a:cubicBezTo>
                    <a:pt x="10735310" y="0"/>
                    <a:pt x="10737215" y="1905"/>
                    <a:pt x="10737215" y="4191"/>
                  </a:cubicBezTo>
                  <a:lnTo>
                    <a:pt x="10737215" y="690245"/>
                  </a:lnTo>
                  <a:cubicBezTo>
                    <a:pt x="10737215" y="692531"/>
                    <a:pt x="10735310" y="694436"/>
                    <a:pt x="10733024" y="694436"/>
                  </a:cubicBezTo>
                  <a:lnTo>
                    <a:pt x="4191" y="694436"/>
                  </a:lnTo>
                  <a:cubicBezTo>
                    <a:pt x="1905" y="694436"/>
                    <a:pt x="0" y="692531"/>
                    <a:pt x="0" y="690245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4907461" y="8035976"/>
            <a:ext cx="260452" cy="296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84824" y="8552107"/>
            <a:ext cx="2411911" cy="285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Дистанційна парковка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84824" y="8890997"/>
            <a:ext cx="7705877" cy="491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1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Автоматична парковка та можливість керувати автомобілем дистанційно через смартфон спрощують маневрування у тісних міських умовах та підвищують зручність.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195197" y="7881195"/>
            <a:ext cx="8110090" cy="1703337"/>
            <a:chOff x="0" y="0"/>
            <a:chExt cx="10813453" cy="22711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2700" y="12700"/>
              <a:ext cx="10788015" cy="2245741"/>
            </a:xfrm>
            <a:custGeom>
              <a:avLst/>
              <a:gdLst/>
              <a:ahLst/>
              <a:cxnLst/>
              <a:rect r="r" b="b" t="t" l="l"/>
              <a:pathLst>
                <a:path h="2245741" w="10788015">
                  <a:moveTo>
                    <a:pt x="0" y="34798"/>
                  </a:moveTo>
                  <a:cubicBezTo>
                    <a:pt x="0" y="15494"/>
                    <a:pt x="15748" y="0"/>
                    <a:pt x="35052" y="0"/>
                  </a:cubicBezTo>
                  <a:lnTo>
                    <a:pt x="10752963" y="0"/>
                  </a:lnTo>
                  <a:cubicBezTo>
                    <a:pt x="10772267" y="0"/>
                    <a:pt x="10788015" y="15494"/>
                    <a:pt x="10788015" y="34798"/>
                  </a:cubicBezTo>
                  <a:lnTo>
                    <a:pt x="10788015" y="2210943"/>
                  </a:lnTo>
                  <a:cubicBezTo>
                    <a:pt x="10788015" y="2230120"/>
                    <a:pt x="10772267" y="2245741"/>
                    <a:pt x="10752963" y="2245741"/>
                  </a:cubicBezTo>
                  <a:lnTo>
                    <a:pt x="35052" y="2245741"/>
                  </a:lnTo>
                  <a:cubicBezTo>
                    <a:pt x="15748" y="2245741"/>
                    <a:pt x="0" y="2230247"/>
                    <a:pt x="0" y="221094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813415" cy="2271141"/>
            </a:xfrm>
            <a:custGeom>
              <a:avLst/>
              <a:gdLst/>
              <a:ahLst/>
              <a:cxnLst/>
              <a:rect r="r" b="b" t="t" l="l"/>
              <a:pathLst>
                <a:path h="2271141" w="10813415">
                  <a:moveTo>
                    <a:pt x="0" y="47498"/>
                  </a:moveTo>
                  <a:cubicBezTo>
                    <a:pt x="0" y="21082"/>
                    <a:pt x="21463" y="0"/>
                    <a:pt x="47752" y="0"/>
                  </a:cubicBezTo>
                  <a:lnTo>
                    <a:pt x="10765663" y="0"/>
                  </a:lnTo>
                  <a:lnTo>
                    <a:pt x="10765663" y="12700"/>
                  </a:lnTo>
                  <a:lnTo>
                    <a:pt x="10765663" y="0"/>
                  </a:lnTo>
                  <a:cubicBezTo>
                    <a:pt x="10791952" y="0"/>
                    <a:pt x="10813415" y="21082"/>
                    <a:pt x="10813415" y="47498"/>
                  </a:cubicBezTo>
                  <a:lnTo>
                    <a:pt x="10800715" y="47498"/>
                  </a:lnTo>
                  <a:lnTo>
                    <a:pt x="10813415" y="47498"/>
                  </a:lnTo>
                  <a:lnTo>
                    <a:pt x="10813415" y="2223643"/>
                  </a:lnTo>
                  <a:lnTo>
                    <a:pt x="10800715" y="2223643"/>
                  </a:lnTo>
                  <a:lnTo>
                    <a:pt x="10813415" y="2223643"/>
                  </a:lnTo>
                  <a:cubicBezTo>
                    <a:pt x="10813415" y="2249932"/>
                    <a:pt x="10791952" y="2271141"/>
                    <a:pt x="10765663" y="2271141"/>
                  </a:cubicBezTo>
                  <a:lnTo>
                    <a:pt x="10765663" y="2258441"/>
                  </a:lnTo>
                  <a:lnTo>
                    <a:pt x="10765663" y="2271141"/>
                  </a:lnTo>
                  <a:lnTo>
                    <a:pt x="47752" y="2271141"/>
                  </a:lnTo>
                  <a:lnTo>
                    <a:pt x="47752" y="2258441"/>
                  </a:lnTo>
                  <a:lnTo>
                    <a:pt x="47752" y="2271141"/>
                  </a:lnTo>
                  <a:cubicBezTo>
                    <a:pt x="21463" y="2271141"/>
                    <a:pt x="0" y="2250059"/>
                    <a:pt x="0" y="2223643"/>
                  </a:cubicBezTo>
                  <a:lnTo>
                    <a:pt x="0" y="47498"/>
                  </a:lnTo>
                  <a:lnTo>
                    <a:pt x="12700" y="47498"/>
                  </a:lnTo>
                  <a:lnTo>
                    <a:pt x="0" y="47498"/>
                  </a:lnTo>
                  <a:moveTo>
                    <a:pt x="25400" y="47498"/>
                  </a:moveTo>
                  <a:lnTo>
                    <a:pt x="25400" y="2223643"/>
                  </a:lnTo>
                  <a:lnTo>
                    <a:pt x="12700" y="2223643"/>
                  </a:lnTo>
                  <a:lnTo>
                    <a:pt x="25400" y="2223643"/>
                  </a:lnTo>
                  <a:cubicBezTo>
                    <a:pt x="25400" y="2235708"/>
                    <a:pt x="35306" y="2245741"/>
                    <a:pt x="47752" y="2245741"/>
                  </a:cubicBezTo>
                  <a:lnTo>
                    <a:pt x="10765663" y="2245741"/>
                  </a:lnTo>
                  <a:cubicBezTo>
                    <a:pt x="10778109" y="2245741"/>
                    <a:pt x="10788015" y="2235708"/>
                    <a:pt x="10788015" y="2223643"/>
                  </a:cubicBezTo>
                  <a:lnTo>
                    <a:pt x="10788015" y="47498"/>
                  </a:lnTo>
                  <a:cubicBezTo>
                    <a:pt x="10788015" y="35433"/>
                    <a:pt x="10778109" y="25400"/>
                    <a:pt x="10765663" y="25400"/>
                  </a:cubicBezTo>
                  <a:lnTo>
                    <a:pt x="47752" y="25400"/>
                  </a:lnTo>
                  <a:lnTo>
                    <a:pt x="47752" y="12700"/>
                  </a:lnTo>
                  <a:lnTo>
                    <a:pt x="47752" y="25400"/>
                  </a:lnTo>
                  <a:cubicBezTo>
                    <a:pt x="35306" y="25400"/>
                    <a:pt x="25400" y="35433"/>
                    <a:pt x="25400" y="47498"/>
                  </a:cubicBezTo>
                  <a:close/>
                </a:path>
              </a:pathLst>
            </a:custGeom>
            <a:solidFill>
              <a:srgbClr val="D8D4D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223772" y="7909770"/>
            <a:ext cx="8052940" cy="520903"/>
            <a:chOff x="0" y="0"/>
            <a:chExt cx="10737253" cy="69453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737215" cy="694436"/>
            </a:xfrm>
            <a:custGeom>
              <a:avLst/>
              <a:gdLst/>
              <a:ahLst/>
              <a:cxnLst/>
              <a:rect r="r" b="b" t="t" l="l"/>
              <a:pathLst>
                <a:path h="694436" w="10737215">
                  <a:moveTo>
                    <a:pt x="0" y="4191"/>
                  </a:moveTo>
                  <a:cubicBezTo>
                    <a:pt x="0" y="1905"/>
                    <a:pt x="1905" y="0"/>
                    <a:pt x="4191" y="0"/>
                  </a:cubicBezTo>
                  <a:lnTo>
                    <a:pt x="10733024" y="0"/>
                  </a:lnTo>
                  <a:cubicBezTo>
                    <a:pt x="10735310" y="0"/>
                    <a:pt x="10737215" y="1905"/>
                    <a:pt x="10737215" y="4191"/>
                  </a:cubicBezTo>
                  <a:lnTo>
                    <a:pt x="10737215" y="690245"/>
                  </a:lnTo>
                  <a:cubicBezTo>
                    <a:pt x="10737215" y="692531"/>
                    <a:pt x="10735310" y="694436"/>
                    <a:pt x="10733024" y="694436"/>
                  </a:cubicBezTo>
                  <a:lnTo>
                    <a:pt x="4191" y="694436"/>
                  </a:lnTo>
                  <a:cubicBezTo>
                    <a:pt x="1905" y="694436"/>
                    <a:pt x="0" y="692531"/>
                    <a:pt x="0" y="690245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3119945" y="8035976"/>
            <a:ext cx="260452" cy="296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397308" y="8552107"/>
            <a:ext cx="4170759" cy="285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Розпізнавання об’єктів у "сліпих" зонах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397308" y="8890997"/>
            <a:ext cx="7705877" cy="491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1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Розширені сенсори та камери виявляють об'єкти у "сліпих" зонах автомобіля, надаючи водієві візуальні та звукові попередження, що робить перелаштування смуг безпечнішим.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49954"/>
            <a:ext cx="6240361" cy="679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5"/>
              </a:lnSpc>
            </a:pPr>
            <a:r>
              <a:rPr lang="en-US" sz="406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Виклики та застереження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238" y="2025853"/>
            <a:ext cx="1240336" cy="1845621"/>
          </a:xfrm>
          <a:custGeom>
            <a:avLst/>
            <a:gdLst/>
            <a:ahLst/>
            <a:cxnLst/>
            <a:rect r="r" b="b" t="t" l="l"/>
            <a:pathLst>
              <a:path h="1845621" w="1240336">
                <a:moveTo>
                  <a:pt x="0" y="0"/>
                </a:moveTo>
                <a:lnTo>
                  <a:pt x="1240336" y="0"/>
                </a:lnTo>
                <a:lnTo>
                  <a:pt x="1240336" y="1845621"/>
                </a:lnTo>
                <a:lnTo>
                  <a:pt x="0" y="184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44" r="0" b="-14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80520" y="2264273"/>
            <a:ext cx="3256207" cy="416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Кібербезпека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80520" y="2762993"/>
            <a:ext cx="14815242" cy="860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Зростаюча залежність від програмного забезпечення та підключення до мережі створює нові загрози кібербезпеці. Захист даних водія та систем автомобіля від хакерських атак є пріоритетом.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92238" y="3871465"/>
            <a:ext cx="1240336" cy="1845621"/>
          </a:xfrm>
          <a:custGeom>
            <a:avLst/>
            <a:gdLst/>
            <a:ahLst/>
            <a:cxnLst/>
            <a:rect r="r" b="b" t="t" l="l"/>
            <a:pathLst>
              <a:path h="1845621" w="1240336">
                <a:moveTo>
                  <a:pt x="0" y="0"/>
                </a:moveTo>
                <a:lnTo>
                  <a:pt x="1240336" y="0"/>
                </a:lnTo>
                <a:lnTo>
                  <a:pt x="1240336" y="1845621"/>
                </a:lnTo>
                <a:lnTo>
                  <a:pt x="0" y="184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44" r="0" b="-14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80520" y="4109885"/>
            <a:ext cx="3256207" cy="416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Етичні дилеми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80520" y="4608614"/>
            <a:ext cx="14815242" cy="860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Автономні автомобілі стикаються з етичними викликами у складних дорожніх ситуаціях, коли доводиться обирати "менше зло". Розробка етичних алгоритмів є критично важливою.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92238" y="5717086"/>
            <a:ext cx="1240336" cy="1845621"/>
          </a:xfrm>
          <a:custGeom>
            <a:avLst/>
            <a:gdLst/>
            <a:ahLst/>
            <a:cxnLst/>
            <a:rect r="r" b="b" t="t" l="l"/>
            <a:pathLst>
              <a:path h="1845621" w="1240336">
                <a:moveTo>
                  <a:pt x="0" y="0"/>
                </a:moveTo>
                <a:lnTo>
                  <a:pt x="1240336" y="0"/>
                </a:lnTo>
                <a:lnTo>
                  <a:pt x="1240336" y="1845621"/>
                </a:lnTo>
                <a:lnTo>
                  <a:pt x="0" y="184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44" r="0" b="-144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480520" y="5955506"/>
            <a:ext cx="3526336" cy="416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Законодавча адаптація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80520" y="6454226"/>
            <a:ext cx="14815242" cy="860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Існуюче законодавство не завжди відповідає новим технологіям. Необхідна адаптація правових норм і стандартів для регулювання використання ШІ в автомобілях.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92238" y="7562698"/>
            <a:ext cx="1240336" cy="1845621"/>
          </a:xfrm>
          <a:custGeom>
            <a:avLst/>
            <a:gdLst/>
            <a:ahLst/>
            <a:cxnLst/>
            <a:rect r="r" b="b" t="t" l="l"/>
            <a:pathLst>
              <a:path h="1845621" w="1240336">
                <a:moveTo>
                  <a:pt x="0" y="0"/>
                </a:moveTo>
                <a:lnTo>
                  <a:pt x="1240336" y="0"/>
                </a:lnTo>
                <a:lnTo>
                  <a:pt x="1240336" y="1845621"/>
                </a:lnTo>
                <a:lnTo>
                  <a:pt x="0" y="184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4" r="0" b="-144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480520" y="7801127"/>
            <a:ext cx="3713559" cy="416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Конфіденційність даних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80520" y="8299847"/>
            <a:ext cx="14815242" cy="860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Збір величезних обсягів даних про поїздки та поведінку водіїв викликає занепокоєння щодо конфіденційності. Потрібні чіткі правила їх використання та захисту.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26141"/>
            <a:ext cx="8094764" cy="50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6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Візія 2026: автомобіль як розумний партнер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3030141" y="1612554"/>
            <a:ext cx="12227566" cy="6890890"/>
          </a:xfrm>
          <a:custGeom>
            <a:avLst/>
            <a:gdLst/>
            <a:ahLst/>
            <a:cxnLst/>
            <a:rect r="r" b="b" t="t" l="l"/>
            <a:pathLst>
              <a:path h="6890890" w="12227566">
                <a:moveTo>
                  <a:pt x="0" y="0"/>
                </a:moveTo>
                <a:lnTo>
                  <a:pt x="12227566" y="0"/>
                </a:lnTo>
                <a:lnTo>
                  <a:pt x="12227566" y="6890890"/>
                </a:lnTo>
                <a:lnTo>
                  <a:pt x="0" y="6890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" t="0" r="-41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19453" y="2209638"/>
            <a:ext cx="2264683" cy="711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87"/>
              </a:lnSpc>
            </a:pPr>
            <a:r>
              <a:rPr lang="en-US" sz="175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Підвищена безпека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19453" y="3036532"/>
            <a:ext cx="2264683" cy="69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7"/>
              </a:lnSpc>
            </a:pPr>
            <a:r>
              <a:rPr lang="en-US" sz="131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Реакція в реальному часі, аварійне гальмування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15465" y="2209638"/>
            <a:ext cx="2252634" cy="35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Персоналізація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15465" y="2680792"/>
            <a:ext cx="2252634" cy="455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1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Налаштування під водія та профілі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03968" y="6364053"/>
            <a:ext cx="2180358" cy="711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87"/>
              </a:lnSpc>
            </a:pPr>
            <a:r>
              <a:rPr lang="en-US" sz="175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Безшовна зв'язність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03968" y="7190956"/>
            <a:ext cx="2180358" cy="69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7"/>
              </a:lnSpc>
            </a:pPr>
            <a:r>
              <a:rPr lang="en-US" sz="131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Хмарні оновлення та інтеграція гаджетів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43190" y="6364053"/>
            <a:ext cx="2324910" cy="711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Автономне водіння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43190" y="7190956"/>
            <a:ext cx="2324910" cy="69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1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Підтримка рівнів автономії та помічник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8641261"/>
            <a:ext cx="16303523" cy="800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4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У 2026 році ШІ в автомобілях не замінить водія, а стане його надійним помічником і співкеруючим. Поєднання автономності, безпеки і персоналізації зробить поїздки не тільки комфортними, але й максимально ефективними. Майбутнє автомобілебудування — це інтеграція штучного інтелекту у всі аспекти автомобільного досвіду, перетворюючи машину на справжнього розумного партнера, який адаптується до потреб користувача та оточуючого середовища.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011691"/>
            <a:ext cx="16303523" cy="2275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2"/>
              </a:lnSpc>
            </a:pPr>
            <a:r>
              <a:rPr lang="en-US" sz="706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Висновок: ШІ в авто — це вже реальність, що змінює наше життя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5592366"/>
            <a:ext cx="16303523" cy="165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2026 рік стане переломним моментом — роком переходу від експериментів до масового впровадження інтелектуальних систем в автомобілі. Це відкриває нові горизонти безпеки, комфорту та мобільності, роблячи наші поїздки безпечнішими, ефективнішими та приємнішими. Запрошую вас разом дивитися у майбутнє, де машина — це більше, ніж просто транспортний засіб, це розумний, адаптивний партнер.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DAG_D9aNJ-k</dc:identifier>
  <dcterms:modified xsi:type="dcterms:W3CDTF">2011-08-01T06:04:30Z</dcterms:modified>
  <cp:revision>1</cp:revision>
  <dc:title>Shtuchnij-intelekt-v-avtomobilyah-u-2026-roci-mij-poglyad-u-majbutnye.pptx</dc:title>
</cp:coreProperties>
</file>